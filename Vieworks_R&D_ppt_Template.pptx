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809" r:id="rId4"/>
    <p:sldId id="594" r:id="rId5"/>
    <p:sldId id="810" r:id="rId6"/>
    <p:sldId id="382" r:id="rId7"/>
    <p:sldId id="385" r:id="rId8"/>
    <p:sldId id="386" r:id="rId9"/>
    <p:sldId id="387" r:id="rId10"/>
    <p:sldId id="383" r:id="rId11"/>
    <p:sldId id="808" r:id="rId12"/>
    <p:sldId id="805" r:id="rId13"/>
    <p:sldId id="806" r:id="rId14"/>
    <p:sldId id="807" r:id="rId15"/>
    <p:sldId id="388" r:id="rId16"/>
    <p:sldId id="811" r:id="rId17"/>
    <p:sldId id="389" r:id="rId18"/>
    <p:sldId id="390" r:id="rId19"/>
    <p:sldId id="812" r:id="rId20"/>
    <p:sldId id="815" r:id="rId21"/>
    <p:sldId id="814" r:id="rId22"/>
    <p:sldId id="813" r:id="rId23"/>
    <p:sldId id="260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0032"/>
    <a:srgbClr val="CE223E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3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425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0915F-7256-4DD1-A448-AEEA02B5A028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76CE7-CF43-4A38-8873-691D5AD09D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2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EA0C-68D9-01DA-B43C-CEC8B90D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102472-EC2A-B254-668B-8D49875AE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4F44-29E1-3EAE-D092-BF00E4AC0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4B08CA-A0BA-72C7-EE24-04DA28C58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5EE9-C082-4935-8035-CC76DBD629A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50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8CE2D0-1828-4DB0-A6B0-6794C90B14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7973" y="0"/>
            <a:ext cx="6832842" cy="685800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7268159A-AD63-49E9-80BE-F29D550D3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181" y="585074"/>
            <a:ext cx="1552575" cy="1905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233AA7-D699-490E-82E9-396BEED3F9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181" y="3087928"/>
            <a:ext cx="9713912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8A4C006-70F5-4F98-9866-8609F6309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81" y="3770072"/>
            <a:ext cx="9713912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날짜</a:t>
            </a:r>
          </a:p>
        </p:txBody>
      </p:sp>
    </p:spTree>
    <p:extLst>
      <p:ext uri="{BB962C8B-B14F-4D97-AF65-F5344CB8AC3E}">
        <p14:creationId xmlns:p14="http://schemas.microsoft.com/office/powerpoint/2010/main" val="224394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8CDB77-3814-4D7F-ABFB-B1336FD5DC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1" y="714054"/>
            <a:ext cx="3879740" cy="66782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6D6AA3BE-51A2-4494-8F75-524DB0F807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4671" y="812528"/>
            <a:ext cx="1233682" cy="151372"/>
          </a:xfrm>
          <a:prstGeom prst="rect">
            <a:avLst/>
          </a:prstGeom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7464330-7283-E93B-419A-322ED05CFDD9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7010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948C212-8944-490F-965F-0C60032DFF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9891" y="0"/>
            <a:ext cx="6758217" cy="6858000"/>
          </a:xfrm>
          <a:prstGeom prst="rect">
            <a:avLst/>
          </a:prstGeom>
        </p:spPr>
      </p:pic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A0017B-1708-4174-B8E5-11257260D7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181" y="2572216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DB0032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D914123D-F39E-409F-852E-DF9767095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81" y="3292682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표제</a:t>
            </a:r>
            <a:endParaRPr lang="en-US" altLang="ko-KR" dirty="0"/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AB2D5424-867A-43CD-B020-277692C243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181" y="3874448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설명</a:t>
            </a:r>
            <a:endParaRPr lang="en-US" altLang="ko-KR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47C5351-19B7-BEAE-51D6-929C65A766D6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61012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C491092-175A-480C-BFCE-F6083FB06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1" y="770562"/>
            <a:ext cx="12184218" cy="354458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5DF9D159-C7E5-422A-BF34-73098CB936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2823" y="812800"/>
            <a:ext cx="1233682" cy="15137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71FA69-0F4C-4E3A-B477-3F14443ED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8541" y="339725"/>
            <a:ext cx="9211156" cy="47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표제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03111DC7-8D6F-568B-0EF8-1523717067F4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648930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3A016247-C574-46D5-B62B-99AF08D3B0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181" y="585074"/>
            <a:ext cx="1552575" cy="190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F9B727E-973F-4A27-BD43-C9C1541C0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54"/>
          <a:stretch/>
        </p:blipFill>
        <p:spPr>
          <a:xfrm>
            <a:off x="5286054" y="0"/>
            <a:ext cx="6903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7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83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573EF15-9FAA-4B7A-98D1-F58572413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81" y="1821134"/>
            <a:ext cx="6790979" cy="1231523"/>
          </a:xfrm>
        </p:spPr>
        <p:txBody>
          <a:bodyPr/>
          <a:lstStyle/>
          <a:p>
            <a:r>
              <a:rPr lang="en-US" altLang="ko-KR" dirty="0"/>
              <a:t>AF Camera </a:t>
            </a:r>
            <a:r>
              <a:rPr lang="ko-KR" altLang="en-US" dirty="0"/>
              <a:t>신규 기능 개발 계획서</a:t>
            </a:r>
            <a:endParaRPr lang="en-US" altLang="ko-KR" dirty="0"/>
          </a:p>
          <a:p>
            <a:r>
              <a:rPr lang="en-US" altLang="ko-KR" sz="2800" dirty="0"/>
              <a:t>Multi Exposure </a:t>
            </a:r>
            <a:r>
              <a:rPr lang="ko-KR" altLang="en-US" sz="2800" dirty="0"/>
              <a:t>기능 테스트</a:t>
            </a: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0E51F10E-1045-A41A-A0A4-CDDAA7CF214B}"/>
              </a:ext>
            </a:extLst>
          </p:cNvPr>
          <p:cNvSpPr txBox="1"/>
          <p:nvPr/>
        </p:nvSpPr>
        <p:spPr>
          <a:xfrm>
            <a:off x="585181" y="3429000"/>
            <a:ext cx="2070710" cy="1410001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en-US" spc="-45" dirty="0">
                <a:solidFill>
                  <a:srgbClr val="7E7E7E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2025.12.12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ko-KR" altLang="en-US" spc="-45" dirty="0" err="1">
                <a:solidFill>
                  <a:srgbClr val="7E7E7E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뷰웍스</a:t>
            </a:r>
            <a:r>
              <a:rPr lang="ko-KR" altLang="en-US" spc="-45" dirty="0">
                <a:solidFill>
                  <a:srgbClr val="7E7E7E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광영상본부 </a:t>
            </a:r>
            <a:endParaRPr lang="en-US" altLang="ko-KR" spc="-45" dirty="0">
              <a:solidFill>
                <a:srgbClr val="7E7E7E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ko-KR" altLang="en-US" spc="-45" dirty="0" err="1">
                <a:solidFill>
                  <a:srgbClr val="7E7E7E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광영상기술지원팀</a:t>
            </a:r>
            <a:endParaRPr lang="en-US" altLang="ko-KR" spc="-45" dirty="0">
              <a:solidFill>
                <a:srgbClr val="7E7E7E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ko-KR" altLang="en-US" spc="-45" dirty="0">
                <a:solidFill>
                  <a:srgbClr val="7E7E7E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정찬우 </a:t>
            </a:r>
            <a:r>
              <a:rPr lang="en-US" altLang="ko-KR" spc="-45" dirty="0">
                <a:solidFill>
                  <a:srgbClr val="7E7E7E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CL</a:t>
            </a:r>
            <a:endParaRPr lang="en-US" spc="-45" dirty="0">
              <a:solidFill>
                <a:srgbClr val="7E7E7E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200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10516062-92C0-4791-AD55-DC7C680789FD}"/>
              </a:ext>
            </a:extLst>
          </p:cNvPr>
          <p:cNvSpPr txBox="1"/>
          <p:nvPr/>
        </p:nvSpPr>
        <p:spPr>
          <a:xfrm>
            <a:off x="575708" y="401565"/>
            <a:ext cx="3049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>
                <a:solidFill>
                  <a:srgbClr val="DB0032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목</a:t>
            </a:r>
            <a:r>
              <a:rPr lang="en-US" altLang="ko-KR" sz="3200">
                <a:solidFill>
                  <a:srgbClr val="DB0032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  </a:t>
            </a:r>
            <a:r>
              <a:rPr lang="ko-KR" altLang="en-US" sz="3200">
                <a:solidFill>
                  <a:srgbClr val="DB0032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차</a:t>
            </a:r>
            <a:endParaRPr lang="en-US" altLang="ko-KR" sz="3200">
              <a:solidFill>
                <a:srgbClr val="DB0032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22" name="슬라이드 번호 개체 틀 5">
            <a:extLst>
              <a:ext uri="{FF2B5EF4-FFF2-40B4-BE49-F238E27FC236}">
                <a16:creationId xmlns:a16="http://schemas.microsoft.com/office/drawing/2014/main" id="{04EE64D6-E222-064D-2E9D-86E41D307066}"/>
              </a:ext>
            </a:extLst>
          </p:cNvPr>
          <p:cNvSpPr txBox="1">
            <a:spLocks/>
          </p:cNvSpPr>
          <p:nvPr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2</a:t>
            </a:fld>
            <a:endParaRPr lang="ko-KR" altLang="en-US" sz="90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7DBB8AA-CF89-AD44-1B80-2DF4E0CAA3EB}"/>
              </a:ext>
            </a:extLst>
          </p:cNvPr>
          <p:cNvGrpSpPr/>
          <p:nvPr/>
        </p:nvGrpSpPr>
        <p:grpSpPr>
          <a:xfrm>
            <a:off x="3724031" y="1843362"/>
            <a:ext cx="4097033" cy="3445238"/>
            <a:chOff x="3697905" y="2296208"/>
            <a:chExt cx="4097033" cy="3445238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48B6B74-7979-E1FD-17E6-17045A694981}"/>
                </a:ext>
              </a:extLst>
            </p:cNvPr>
            <p:cNvGrpSpPr/>
            <p:nvPr/>
          </p:nvGrpSpPr>
          <p:grpSpPr>
            <a:xfrm>
              <a:off x="3697905" y="2296208"/>
              <a:ext cx="2049999" cy="648000"/>
              <a:chOff x="3559882" y="1670472"/>
              <a:chExt cx="2049999" cy="646331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D61436-A198-4C61-82FF-BD84A9BDECDC}"/>
                  </a:ext>
                </a:extLst>
              </p:cNvPr>
              <p:cNvSpPr txBox="1"/>
              <p:nvPr/>
            </p:nvSpPr>
            <p:spPr>
              <a:xfrm>
                <a:off x="3559882" y="1670472"/>
                <a:ext cx="71122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600">
                    <a:solidFill>
                      <a:srgbClr val="E00031"/>
                    </a:solidFill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01</a:t>
                </a:r>
                <a:endParaRPr lang="ko-KR" altLang="en-US" sz="3600">
                  <a:solidFill>
                    <a:srgbClr val="E00031"/>
                  </a:solidFill>
                  <a:latin typeface="뷰웍스 B" panose="02020503020101020101" pitchFamily="18" charset="-127"/>
                  <a:ea typeface="뷰웍스 B" panose="02020503020101020101" pitchFamily="18" charset="-127"/>
                  <a:cs typeface="뷰웍스 B" panose="02020503020101020101" pitchFamily="18" charset="-127"/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BDF2B7-8516-4DC7-8AA3-126A664E79EE}"/>
                  </a:ext>
                </a:extLst>
              </p:cNvPr>
              <p:cNvSpPr txBox="1"/>
              <p:nvPr/>
            </p:nvSpPr>
            <p:spPr>
              <a:xfrm>
                <a:off x="4522724" y="1808971"/>
                <a:ext cx="1087157" cy="368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과제 개요</a:t>
                </a:r>
                <a:endParaRPr lang="en-US" altLang="ko-KR" dirty="0">
                  <a:latin typeface="뷰웍스 B" panose="02020503020101020101" pitchFamily="18" charset="-127"/>
                  <a:ea typeface="뷰웍스 B" panose="02020503020101020101" pitchFamily="18" charset="-127"/>
                  <a:cs typeface="뷰웍스 B" panose="02020503020101020101" pitchFamily="18" charset="-127"/>
                </a:endParaRPr>
              </a:p>
            </p:txBody>
          </p:sp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4EFC7EFA-A800-4C0F-910C-16EFBA0064EA}"/>
                  </a:ext>
                </a:extLst>
              </p:cNvPr>
              <p:cNvCxnSpPr/>
              <p:nvPr/>
            </p:nvCxnSpPr>
            <p:spPr>
              <a:xfrm>
                <a:off x="4431890" y="1792129"/>
                <a:ext cx="0" cy="448116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436E73F6-A738-AAFC-00DA-C6102319F041}"/>
                </a:ext>
              </a:extLst>
            </p:cNvPr>
            <p:cNvGrpSpPr/>
            <p:nvPr/>
          </p:nvGrpSpPr>
          <p:grpSpPr>
            <a:xfrm>
              <a:off x="3697905" y="3229177"/>
              <a:ext cx="4097033" cy="648000"/>
              <a:chOff x="3559882" y="2588669"/>
              <a:chExt cx="4097033" cy="64633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43F526-12F4-4216-B3DA-17973E7314A5}"/>
                  </a:ext>
                </a:extLst>
              </p:cNvPr>
              <p:cNvSpPr txBox="1"/>
              <p:nvPr/>
            </p:nvSpPr>
            <p:spPr>
              <a:xfrm>
                <a:off x="3559882" y="2588669"/>
                <a:ext cx="7296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600">
                    <a:solidFill>
                      <a:srgbClr val="E00031"/>
                    </a:solidFill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02</a:t>
                </a:r>
                <a:endParaRPr lang="ko-KR" altLang="en-US" sz="3600">
                  <a:solidFill>
                    <a:srgbClr val="E00031"/>
                  </a:solidFill>
                  <a:latin typeface="뷰웍스 B" panose="02020503020101020101" pitchFamily="18" charset="-127"/>
                  <a:ea typeface="뷰웍스 B" panose="02020503020101020101" pitchFamily="18" charset="-127"/>
                  <a:cs typeface="뷰웍스 B" panose="02020503020101020101" pitchFamily="18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70DCBD-41A2-444E-8611-1BC81C74B800}"/>
                  </a:ext>
                </a:extLst>
              </p:cNvPr>
              <p:cNvSpPr txBox="1"/>
              <p:nvPr/>
            </p:nvSpPr>
            <p:spPr>
              <a:xfrm>
                <a:off x="4522724" y="2756247"/>
                <a:ext cx="3134191" cy="368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AF</a:t>
                </a:r>
                <a:r>
                  <a:rPr lang="ko-KR" altLang="en-US" dirty="0"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 </a:t>
                </a:r>
                <a:r>
                  <a:rPr lang="en-US" altLang="ko-KR" dirty="0"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Multi-Exposure </a:t>
                </a:r>
                <a:r>
                  <a:rPr lang="ko-KR" altLang="en-US" dirty="0"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로직 소개</a:t>
                </a:r>
                <a:endParaRPr lang="ko-KR" altLang="en-US" sz="1800" dirty="0">
                  <a:solidFill>
                    <a:schemeClr val="tx1"/>
                  </a:solidFill>
                  <a:latin typeface="뷰웍스 B" panose="02020503020101020101" pitchFamily="18" charset="-127"/>
                  <a:ea typeface="뷰웍스 B" panose="02020503020101020101" pitchFamily="18" charset="-127"/>
                  <a:cs typeface="뷰웍스 B" panose="02020503020101020101" pitchFamily="18" charset="-127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6EF872AF-CE26-46FA-9AE9-44BAEA918A5A}"/>
                  </a:ext>
                </a:extLst>
              </p:cNvPr>
              <p:cNvCxnSpPr/>
              <p:nvPr/>
            </p:nvCxnSpPr>
            <p:spPr>
              <a:xfrm>
                <a:off x="4431890" y="2710326"/>
                <a:ext cx="0" cy="448116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115306C-9B0F-FF99-CF67-DC32C82078A7}"/>
                </a:ext>
              </a:extLst>
            </p:cNvPr>
            <p:cNvGrpSpPr/>
            <p:nvPr/>
          </p:nvGrpSpPr>
          <p:grpSpPr>
            <a:xfrm>
              <a:off x="3697905" y="4162146"/>
              <a:ext cx="3784448" cy="648000"/>
              <a:chOff x="3559882" y="3526232"/>
              <a:chExt cx="3784448" cy="64633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A72EF6-0B33-4FD9-B665-82C0EC0A26FF}"/>
                  </a:ext>
                </a:extLst>
              </p:cNvPr>
              <p:cNvSpPr txBox="1"/>
              <p:nvPr/>
            </p:nvSpPr>
            <p:spPr>
              <a:xfrm>
                <a:off x="3559882" y="3526232"/>
                <a:ext cx="7296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600" dirty="0">
                    <a:solidFill>
                      <a:srgbClr val="E00031"/>
                    </a:solidFill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03</a:t>
                </a:r>
                <a:endParaRPr lang="ko-KR" altLang="en-US" sz="3600" dirty="0">
                  <a:solidFill>
                    <a:srgbClr val="E00031"/>
                  </a:solidFill>
                  <a:latin typeface="뷰웍스 B" panose="02020503020101020101" pitchFamily="18" charset="-127"/>
                  <a:ea typeface="뷰웍스 B" panose="02020503020101020101" pitchFamily="18" charset="-127"/>
                  <a:cs typeface="뷰웍스 B" panose="02020503020101020101" pitchFamily="18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561ADE-BA78-4C1F-8545-8074A6B1898A}"/>
                  </a:ext>
                </a:extLst>
              </p:cNvPr>
              <p:cNvSpPr txBox="1"/>
              <p:nvPr/>
            </p:nvSpPr>
            <p:spPr>
              <a:xfrm>
                <a:off x="4522724" y="3703523"/>
                <a:ext cx="2821606" cy="368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로직 검증 실험 방식 및 결과</a:t>
                </a:r>
                <a:endParaRPr lang="en-US" altLang="ko-KR" dirty="0">
                  <a:latin typeface="뷰웍스 B" panose="02020503020101020101" pitchFamily="18" charset="-127"/>
                  <a:ea typeface="뷰웍스 B" panose="02020503020101020101" pitchFamily="18" charset="-127"/>
                  <a:cs typeface="뷰웍스 B" panose="02020503020101020101" pitchFamily="18" charset="-127"/>
                </a:endParaRPr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E73259B7-79F7-4A70-A3C4-E4E7860B8263}"/>
                  </a:ext>
                </a:extLst>
              </p:cNvPr>
              <p:cNvCxnSpPr/>
              <p:nvPr/>
            </p:nvCxnSpPr>
            <p:spPr>
              <a:xfrm>
                <a:off x="4431890" y="3647889"/>
                <a:ext cx="0" cy="448116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516C5C8-057E-0543-35D0-A492BB720CAC}"/>
                </a:ext>
              </a:extLst>
            </p:cNvPr>
            <p:cNvGrpSpPr/>
            <p:nvPr/>
          </p:nvGrpSpPr>
          <p:grpSpPr>
            <a:xfrm>
              <a:off x="3697905" y="5095115"/>
              <a:ext cx="3507128" cy="646331"/>
              <a:chOff x="3559882" y="3526232"/>
              <a:chExt cx="3507128" cy="644666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4259E9-4449-F192-BBD7-1A0626039B8C}"/>
                  </a:ext>
                </a:extLst>
              </p:cNvPr>
              <p:cNvSpPr txBox="1"/>
              <p:nvPr/>
            </p:nvSpPr>
            <p:spPr>
              <a:xfrm>
                <a:off x="3559882" y="3526232"/>
                <a:ext cx="729687" cy="64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600" dirty="0">
                    <a:solidFill>
                      <a:srgbClr val="E00031"/>
                    </a:solidFill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04</a:t>
                </a:r>
                <a:endParaRPr lang="ko-KR" altLang="en-US" sz="3600" dirty="0">
                  <a:solidFill>
                    <a:srgbClr val="E00031"/>
                  </a:solidFill>
                  <a:latin typeface="뷰웍스 B" panose="02020503020101020101" pitchFamily="18" charset="-127"/>
                  <a:ea typeface="뷰웍스 B" panose="02020503020101020101" pitchFamily="18" charset="-127"/>
                  <a:cs typeface="뷰웍스 B" panose="020205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B79B59-A579-D668-FB2D-75324E499A3F}"/>
                  </a:ext>
                </a:extLst>
              </p:cNvPr>
              <p:cNvSpPr txBox="1"/>
              <p:nvPr/>
            </p:nvSpPr>
            <p:spPr>
              <a:xfrm>
                <a:off x="4522724" y="3703523"/>
                <a:ext cx="2544286" cy="368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800" dirty="0">
                    <a:solidFill>
                      <a:schemeClr val="tx1"/>
                    </a:solidFill>
                    <a:latin typeface="뷰웍스 B" panose="02020503020101020101" pitchFamily="18" charset="-127"/>
                    <a:ea typeface="뷰웍스 B" panose="02020503020101020101" pitchFamily="18" charset="-127"/>
                    <a:cs typeface="뷰웍스 B" panose="02020503020101020101" pitchFamily="18" charset="-127"/>
                  </a:rPr>
                  <a:t>결론 및 추가 디버깅 사항</a:t>
                </a:r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D06CC0CE-C2E2-661A-0C0B-1E69C1AE667D}"/>
                  </a:ext>
                </a:extLst>
              </p:cNvPr>
              <p:cNvCxnSpPr/>
              <p:nvPr/>
            </p:nvCxnSpPr>
            <p:spPr>
              <a:xfrm>
                <a:off x="4431890" y="3647889"/>
                <a:ext cx="0" cy="448116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1903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07BD-5702-6B76-A677-0DE37DC1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051482-AA5B-FB2D-FD40-350CDD12F3B2}"/>
              </a:ext>
            </a:extLst>
          </p:cNvPr>
          <p:cNvSpPr txBox="1">
            <a:spLocks/>
          </p:cNvSpPr>
          <p:nvPr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3</a:t>
            </a:fld>
            <a:endParaRPr lang="ko-KR" altLang="en-US" sz="9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37E5D62-13CA-69A1-6F38-BC17AA4F97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60FC82-3984-3357-0847-A95B6061F0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과제 개요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690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3B8F-F87F-E21D-C90E-8D27FCF5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09A7EE1-534C-65CC-F03F-814610F85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8540" y="339725"/>
            <a:ext cx="9707439" cy="47307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과제 개요</a:t>
            </a:r>
            <a:endParaRPr lang="en-US" altLang="ko-KR" sz="3200" dirty="0"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490DD-E39D-8A83-439F-E74C36CE09F0}"/>
              </a:ext>
            </a:extLst>
          </p:cNvPr>
          <p:cNvSpPr txBox="1"/>
          <p:nvPr/>
        </p:nvSpPr>
        <p:spPr>
          <a:xfrm>
            <a:off x="776593" y="1243743"/>
            <a:ext cx="11104075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500" b="1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과제 요청 고객사</a:t>
            </a:r>
            <a:r>
              <a:rPr lang="en-US" altLang="ko-KR" sz="1500" b="1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: </a:t>
            </a:r>
            <a:r>
              <a:rPr lang="ko-KR" altLang="en-US" sz="1500" b="1" dirty="0" err="1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크레셈</a:t>
            </a:r>
            <a:endParaRPr lang="en-US" altLang="ko-KR" sz="1500" b="1" dirty="0"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pPr marL="342900" indent="-342900">
              <a:buAutoNum type="arabicPeriod"/>
            </a:pPr>
            <a:endParaRPr lang="en-US" altLang="ko-KR" sz="1500" b="1" dirty="0"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pPr marL="342900" indent="-342900">
              <a:buAutoNum type="arabicPeriod" startAt="2"/>
            </a:pPr>
            <a:r>
              <a:rPr lang="ko-KR" altLang="en-US" sz="1500" b="1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과제 요청 사항</a:t>
            </a:r>
            <a:endParaRPr lang="en-US" altLang="ko-KR" sz="1500" b="1" dirty="0"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pPr marL="342900" indent="-342900">
              <a:buAutoNum type="arabicPeriod" startAt="2"/>
            </a:pPr>
            <a:endParaRPr lang="en-US" altLang="ko-KR" sz="1500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857250" lvl="1" indent="-400050">
              <a:buFont typeface="+mj-lt"/>
              <a:buAutoNum type="romanUcPeriod"/>
            </a:pP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PCB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표면 특성상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재질의 빛 반사도 특성이 상이하여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AF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레이저 영상 형태 및 밝기가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PCB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위치마다 변화가 심함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이로 인한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Detection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성능 감소가 큼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</a:p>
          <a:p>
            <a:pPr marL="857250" lvl="1" indent="-400050">
              <a:buFont typeface="+mj-lt"/>
              <a:buAutoNum type="romanUcPeriod"/>
            </a:pP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이를 보완하기 위해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카메라 단에서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Multi Exposure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기능을 사용할 것을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24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년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12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월경에 제안하였으며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이에 따른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Detection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성능 개선 여부를 확인하고 자 함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 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endParaRPr lang="en-US" altLang="ko-KR" sz="1500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857250" lvl="1" indent="-400050">
              <a:buFont typeface="+mj-lt"/>
              <a:buAutoNum type="romanUcPeriod"/>
            </a:pPr>
            <a:endParaRPr lang="en-US" altLang="ko-KR" sz="1500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342900" indent="-342900">
              <a:buAutoNum type="arabicPeriod" startAt="2"/>
            </a:pPr>
            <a:r>
              <a:rPr lang="ko-KR" altLang="en-US" sz="1500" b="1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과제 진행 </a:t>
            </a:r>
            <a:r>
              <a:rPr lang="en-US" altLang="ko-KR" sz="1500" b="1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History</a:t>
            </a:r>
          </a:p>
          <a:p>
            <a:pPr marL="342900" indent="-342900">
              <a:buAutoNum type="arabicPeriod" startAt="2"/>
            </a:pPr>
            <a:endParaRPr lang="en-US" altLang="ko-KR" sz="1500" dirty="0"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pPr marL="857250" lvl="1" indent="-400050">
              <a:buFont typeface="+mj-lt"/>
              <a:buAutoNum type="romanUcPeriod"/>
            </a:pP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25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년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월경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AF </a:t>
            </a:r>
            <a:r>
              <a:rPr lang="ko-KR" altLang="en-US" sz="15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계산값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평균화 방식을 활용한 로직을 구현하여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카메라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Firmware / FPGA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단에 테스트 버전으로 적용하였음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 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25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년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3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월경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구현한 </a:t>
            </a:r>
            <a:r>
              <a:rPr lang="ko-KR" altLang="en-US" sz="15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로직대로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ko-KR" altLang="en-US" sz="15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뷰웍스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실험실 조건에서 테스트를 진행함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 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25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년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3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월 중순 경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고객사 </a:t>
            </a:r>
            <a:r>
              <a:rPr lang="ko-KR" altLang="en-US" sz="15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크레셈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방문하여 테스트 진행했으나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모션 발진이 발생하며 기능 구현 실패함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</a:p>
          <a:p>
            <a:pPr marL="857250" lvl="1" indent="-400050">
              <a:buFont typeface="+mj-lt"/>
              <a:buAutoNum type="romanUcPeriod"/>
            </a:pP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유력한 원인으로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Peak Threshold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처리 블록과 신규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Multi Exposure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로직간 계산 에러가 발생하는 것으로 </a:t>
            </a:r>
            <a:r>
              <a:rPr lang="ko-KR" altLang="en-US" sz="15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보여짐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이에 따른 디버깅 및 테스트 필요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계산 알고리즘인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Haar-Filter Feature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를 응용하여 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계산 결과물 </a:t>
            </a:r>
            <a:r>
              <a:rPr lang="ko-KR" altLang="en-US" sz="15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출력시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에러율에 대한 정보 파악하여 최종 출력 신호 </a:t>
            </a:r>
            <a:r>
              <a:rPr lang="ko-KR" altLang="en-US" sz="15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판정시</a:t>
            </a:r>
            <a:r>
              <a:rPr lang="ko-KR" altLang="en-US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활용할 수 있도록 기능 보완 및 테스트 필요함</a:t>
            </a:r>
            <a:r>
              <a:rPr lang="en-US" altLang="ko-KR" sz="15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 </a:t>
            </a:r>
          </a:p>
          <a:p>
            <a:r>
              <a:rPr lang="en-US" altLang="ko-KR" sz="15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     </a:t>
            </a:r>
            <a:endParaRPr lang="ko-KR" altLang="en-US" sz="1500" dirty="0"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99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E472-CDF2-CE7E-1800-7928A9B6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EA1A15-C795-1082-BAA1-8CF25B11324D}"/>
              </a:ext>
            </a:extLst>
          </p:cNvPr>
          <p:cNvSpPr txBox="1">
            <a:spLocks/>
          </p:cNvSpPr>
          <p:nvPr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5</a:t>
            </a:fld>
            <a:endParaRPr lang="ko-KR" altLang="en-US" sz="9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64EB4C8-8EF7-6B73-9AFD-866022E225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3239B9-04EB-DBE7-78D9-E61DDD666A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5181" y="3292682"/>
            <a:ext cx="6242339" cy="443285"/>
          </a:xfrm>
        </p:spPr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AF</a:t>
            </a:r>
            <a:r>
              <a:rPr lang="ko-KR" altLang="en-US" dirty="0"/>
              <a:t> </a:t>
            </a:r>
            <a:r>
              <a:rPr lang="en-US" altLang="ko-KR" dirty="0"/>
              <a:t>Multi-Exposure </a:t>
            </a:r>
            <a:r>
              <a:rPr lang="ko-KR" altLang="en-US" dirty="0"/>
              <a:t>로직 </a:t>
            </a:r>
          </a:p>
        </p:txBody>
      </p:sp>
    </p:spTree>
    <p:extLst>
      <p:ext uri="{BB962C8B-B14F-4D97-AF65-F5344CB8AC3E}">
        <p14:creationId xmlns:p14="http://schemas.microsoft.com/office/powerpoint/2010/main" val="22735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6E76-E053-EC74-601C-2525C7A7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7710144-9590-CDF7-0BF9-0943D9FE36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AF </a:t>
            </a:r>
            <a:r>
              <a:rPr lang="ko-KR" altLang="en-US" dirty="0"/>
              <a:t>카메라 </a:t>
            </a:r>
            <a:r>
              <a:rPr lang="en-US" altLang="ko-KR" dirty="0"/>
              <a:t>Multi Exposure </a:t>
            </a:r>
            <a:r>
              <a:rPr lang="ko-KR" altLang="en-US" dirty="0"/>
              <a:t>기능 설계 구조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492A12F-0AFD-3C3F-6C97-57E046884E91}"/>
              </a:ext>
            </a:extLst>
          </p:cNvPr>
          <p:cNvGrpSpPr/>
          <p:nvPr/>
        </p:nvGrpSpPr>
        <p:grpSpPr>
          <a:xfrm>
            <a:off x="644434" y="2980744"/>
            <a:ext cx="11268970" cy="3713354"/>
            <a:chOff x="690114" y="1988706"/>
            <a:chExt cx="11268970" cy="37133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B5E92C7-CDC5-4493-13DF-786EC098B3A2}"/>
                </a:ext>
              </a:extLst>
            </p:cNvPr>
            <p:cNvSpPr/>
            <p:nvPr/>
          </p:nvSpPr>
          <p:spPr>
            <a:xfrm>
              <a:off x="690114" y="2165227"/>
              <a:ext cx="2570671" cy="214797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peak threshold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4DE9FF1-473F-77C4-5BF9-33D6204CDC8D}"/>
                </a:ext>
              </a:extLst>
            </p:cNvPr>
            <p:cNvSpPr/>
            <p:nvPr/>
          </p:nvSpPr>
          <p:spPr>
            <a:xfrm>
              <a:off x="4534618" y="2165228"/>
              <a:ext cx="2570671" cy="214797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Multi Exposure</a:t>
              </a:r>
            </a:p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Sequence mode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9BDDE5-5819-7108-5AC4-1D125AA4961E}"/>
                </a:ext>
              </a:extLst>
            </p:cNvPr>
            <p:cNvSpPr/>
            <p:nvPr/>
          </p:nvSpPr>
          <p:spPr>
            <a:xfrm>
              <a:off x="9388413" y="2165227"/>
              <a:ext cx="2570671" cy="214797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spi DAC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8973FE5E-1540-B74C-B674-D97B2A27D0CB}"/>
                </a:ext>
              </a:extLst>
            </p:cNvPr>
            <p:cNvCxnSpPr>
              <a:cxnSpLocks/>
            </p:cNvCxnSpPr>
            <p:nvPr/>
          </p:nvCxnSpPr>
          <p:spPr>
            <a:xfrm>
              <a:off x="3260785" y="2898475"/>
              <a:ext cx="127383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D4F2E63B-6A0E-660B-1E01-88320C7F0ADF}"/>
                </a:ext>
              </a:extLst>
            </p:cNvPr>
            <p:cNvCxnSpPr>
              <a:cxnSpLocks/>
            </p:cNvCxnSpPr>
            <p:nvPr/>
          </p:nvCxnSpPr>
          <p:spPr>
            <a:xfrm>
              <a:off x="3260785" y="3577086"/>
              <a:ext cx="127383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B7280D-9BA8-1331-B8D2-63ADA496DDF6}"/>
                </a:ext>
              </a:extLst>
            </p:cNvPr>
            <p:cNvSpPr txBox="1"/>
            <p:nvPr/>
          </p:nvSpPr>
          <p:spPr>
            <a:xfrm>
              <a:off x="3249282" y="2424986"/>
              <a:ext cx="1285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peak threshold</a:t>
              </a:r>
            </a:p>
            <a:p>
              <a:pPr algn="ctr"/>
              <a:r>
                <a:rPr lang="en-US" altLang="ko-KR" sz="1200" b="1"/>
                <a:t>(masking)</a:t>
              </a:r>
              <a:endParaRPr lang="ko-KR" altLang="en-US" sz="1200" b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2EF1CD-89A2-8583-7060-88402FC75079}"/>
                </a:ext>
              </a:extLst>
            </p:cNvPr>
            <p:cNvSpPr txBox="1"/>
            <p:nvPr/>
          </p:nvSpPr>
          <p:spPr>
            <a:xfrm>
              <a:off x="3249282" y="327324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Data</a:t>
              </a:r>
              <a:endParaRPr lang="ko-KR" altLang="en-US" sz="1200" b="1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B91E7D6-176C-3988-60C4-3FD0055A7150}"/>
                </a:ext>
              </a:extLst>
            </p:cNvPr>
            <p:cNvGrpSpPr/>
            <p:nvPr/>
          </p:nvGrpSpPr>
          <p:grpSpPr>
            <a:xfrm>
              <a:off x="3482462" y="2898475"/>
              <a:ext cx="5905951" cy="2803585"/>
              <a:chOff x="3476445" y="2808265"/>
              <a:chExt cx="5905951" cy="2803585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7D1ACA34-5B57-86FA-E9F6-EF260C3377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6445" y="2808265"/>
                <a:ext cx="0" cy="2803585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2B8F75E1-4A16-D400-1F44-FC727572E4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6445" y="5611850"/>
                <a:ext cx="5523515" cy="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6401F3E-0FAA-65F6-A1B2-F8661DC9AD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97351" y="3826182"/>
                <a:ext cx="2609" cy="1785668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F47B0B16-DAE5-D685-B18D-EB4C6BB5B4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97351" y="3826182"/>
                <a:ext cx="385045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0B8500CF-DE9E-ECB6-8569-C8CFF2885A2C}"/>
                </a:ext>
              </a:extLst>
            </p:cNvPr>
            <p:cNvGrpSpPr/>
            <p:nvPr/>
          </p:nvGrpSpPr>
          <p:grpSpPr>
            <a:xfrm>
              <a:off x="3620219" y="3577086"/>
              <a:ext cx="4652139" cy="1823050"/>
              <a:chOff x="3620219" y="3577086"/>
              <a:chExt cx="4652139" cy="1823050"/>
            </a:xfrm>
          </p:grpSpPr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9F10B425-7CDC-BB48-75F7-4CE77BDC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0219" y="3577086"/>
                <a:ext cx="0" cy="182305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DEC5127E-CAF1-8355-10EF-59EE173B8B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20219" y="5400136"/>
                <a:ext cx="4130615" cy="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DBB3EB0F-6C7B-7FC0-B439-A51315A7C2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9395" y="3631724"/>
                <a:ext cx="0" cy="1768412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72B485B5-2023-7A8D-5FAA-CF602DFA1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9395" y="3631724"/>
                <a:ext cx="522963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대각선 줄무늬 13">
              <a:extLst>
                <a:ext uri="{FF2B5EF4-FFF2-40B4-BE49-F238E27FC236}">
                  <a16:creationId xmlns:a16="http://schemas.microsoft.com/office/drawing/2014/main" id="{B958A7B3-4F61-36A9-485A-DD9090F0DC36}"/>
                </a:ext>
              </a:extLst>
            </p:cNvPr>
            <p:cNvSpPr/>
            <p:nvPr/>
          </p:nvSpPr>
          <p:spPr>
            <a:xfrm rot="8071558">
              <a:off x="7639917" y="2606301"/>
              <a:ext cx="1264883" cy="1264883"/>
            </a:xfrm>
            <a:prstGeom prst="diagStripe">
              <a:avLst>
                <a:gd name="adj" fmla="val 47272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85AC19CC-E95D-EDC1-5940-88EE75E73E07}"/>
                </a:ext>
              </a:extLst>
            </p:cNvPr>
            <p:cNvCxnSpPr>
              <a:cxnSpLocks/>
            </p:cNvCxnSpPr>
            <p:nvPr/>
          </p:nvCxnSpPr>
          <p:spPr>
            <a:xfrm>
              <a:off x="7105289" y="2886651"/>
              <a:ext cx="1167069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828E3E9A-C1D2-8079-59D1-587D6D262F5C}"/>
                </a:ext>
              </a:extLst>
            </p:cNvPr>
            <p:cNvCxnSpPr>
              <a:cxnSpLocks/>
              <a:stCxn id="14" idx="2"/>
              <a:endCxn id="5" idx="1"/>
            </p:cNvCxnSpPr>
            <p:nvPr/>
          </p:nvCxnSpPr>
          <p:spPr>
            <a:xfrm>
              <a:off x="8743945" y="3234841"/>
              <a:ext cx="644468" cy="43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CD68E38A-6F3E-E4B3-110A-8A4FBC5F3DA6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8502703" y="2070339"/>
              <a:ext cx="0" cy="5078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7D33BF-5B7C-E4B1-035B-F95C6839EB23}"/>
                </a:ext>
              </a:extLst>
            </p:cNvPr>
            <p:cNvSpPr txBox="1"/>
            <p:nvPr/>
          </p:nvSpPr>
          <p:spPr>
            <a:xfrm>
              <a:off x="8302891" y="1988706"/>
              <a:ext cx="1285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Sequence on_off</a:t>
              </a:r>
              <a:endParaRPr lang="ko-KR" altLang="en-US" sz="1200" b="1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D902BEA-1E69-28F9-8A57-6B91C8D03979}"/>
              </a:ext>
            </a:extLst>
          </p:cNvPr>
          <p:cNvSpPr txBox="1"/>
          <p:nvPr/>
        </p:nvSpPr>
        <p:spPr>
          <a:xfrm>
            <a:off x="578541" y="932864"/>
            <a:ext cx="10969025" cy="208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구조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1. Multi Exposure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로직 적용 이후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AF </a:t>
            </a:r>
            <a:r>
              <a:rPr lang="ko-KR" altLang="en-US" sz="1400" dirty="0" err="1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출력단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구조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Multi Exposure Sequence mode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의 기능이 추가됨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mode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의 사용 여부에 따라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peak threshold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출력을 사용할 지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Multi Exposure Sequence mode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출력을 사용할 지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결정하게 됨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mode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로직 내부에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peak threshold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를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masking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된 값을 처리해주는 부분을 추가해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기존의 </a:t>
            </a:r>
            <a:r>
              <a:rPr lang="en-US" altLang="ko-KR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peak threshold masking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과</a:t>
            </a:r>
            <a:r>
              <a:rPr lang="en-US" altLang="ko-KR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sequence mode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의 출력이 충돌이 발생하지 않게 함</a:t>
            </a:r>
            <a:endParaRPr lang="en-US" altLang="ko-KR" sz="1400" dirty="0">
              <a:solidFill>
                <a:srgbClr val="FF0000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2759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104F-1632-DF4A-60A6-09DD4286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3B00010-9819-4A61-F9BD-326CFA5222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Multi Exposure Logic Mode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D2B4A-EC68-6D60-3E81-57DB72740965}"/>
              </a:ext>
            </a:extLst>
          </p:cNvPr>
          <p:cNvSpPr txBox="1"/>
          <p:nvPr/>
        </p:nvSpPr>
        <p:spPr>
          <a:xfrm>
            <a:off x="578541" y="932864"/>
            <a:ext cx="10969025" cy="1995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모드 별 정의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mode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1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: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Using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One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Sample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초기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Exposure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선택 값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: Exposure 1 (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예시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1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에서 초기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input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으로 설정한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Exposure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와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가장 근접한 값을 출력</a:t>
            </a:r>
            <a:endParaRPr lang="en-US" altLang="ko-KR" sz="1400" dirty="0">
              <a:solidFill>
                <a:srgbClr val="FF0000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2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1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에서 출력된 값과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가장 근접한 값을 출력</a:t>
            </a:r>
            <a:endParaRPr lang="en-US" altLang="ko-KR" sz="1400" dirty="0">
              <a:solidFill>
                <a:srgbClr val="FF0000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빨간 값이 </a:t>
            </a:r>
            <a:r>
              <a:rPr lang="en-US" altLang="ko-KR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별 출력</a:t>
            </a:r>
            <a:endParaRPr lang="en-US" altLang="ko-KR" sz="1400" dirty="0">
              <a:solidFill>
                <a:srgbClr val="FF0000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A407B06-2E09-02D3-649A-4A1CF95F296D}"/>
              </a:ext>
            </a:extLst>
          </p:cNvPr>
          <p:cNvGrpSpPr/>
          <p:nvPr/>
        </p:nvGrpSpPr>
        <p:grpSpPr>
          <a:xfrm>
            <a:off x="578541" y="4024221"/>
            <a:ext cx="10787612" cy="1974495"/>
            <a:chOff x="578541" y="3325482"/>
            <a:chExt cx="10787612" cy="197449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A65F017-C259-1AD9-46B9-A0A617EE2044}"/>
                </a:ext>
              </a:extLst>
            </p:cNvPr>
            <p:cNvGrpSpPr/>
            <p:nvPr/>
          </p:nvGrpSpPr>
          <p:grpSpPr>
            <a:xfrm>
              <a:off x="578541" y="3325483"/>
              <a:ext cx="3574212" cy="1595887"/>
              <a:chOff x="724619" y="3847380"/>
              <a:chExt cx="3574212" cy="1595887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15257769-E511-3ADA-8DB7-E06A2260AD74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6" name="그룹 5">
                  <a:extLst>
                    <a:ext uri="{FF2B5EF4-FFF2-40B4-BE49-F238E27FC236}">
                      <a16:creationId xmlns:a16="http://schemas.microsoft.com/office/drawing/2014/main" id="{D3F78966-FA12-31DE-30D8-81A1F85A7D05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3" name="타원 2">
                    <a:extLst>
                      <a:ext uri="{FF2B5EF4-FFF2-40B4-BE49-F238E27FC236}">
                        <a16:creationId xmlns:a16="http://schemas.microsoft.com/office/drawing/2014/main" id="{92C3B691-A215-8090-5DDB-0FA1FA66B453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" name="타원 3">
                    <a:extLst>
                      <a:ext uri="{FF2B5EF4-FFF2-40B4-BE49-F238E27FC236}">
                        <a16:creationId xmlns:a16="http://schemas.microsoft.com/office/drawing/2014/main" id="{FAB2FD09-0E11-E99D-6A43-2883D787B1C5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" name="타원 4">
                    <a:extLst>
                      <a:ext uri="{FF2B5EF4-FFF2-40B4-BE49-F238E27FC236}">
                        <a16:creationId xmlns:a16="http://schemas.microsoft.com/office/drawing/2014/main" id="{2F631E24-C813-450B-5C9C-0759AFA969E5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F40E631-AD27-5F2C-C8FE-762DB87C9DB4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FF0000"/>
                      </a:solidFill>
                    </a:rPr>
                    <a:t>exposure 1</a:t>
                  </a:r>
                  <a:endParaRPr lang="ko-KR" altLang="en-US" sz="1200" b="1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5A76E01-2EE3-A0F1-015E-DE218E49593E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DF1C98D-A8E6-047A-EF0E-48F5ECEDD8E8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3</a:t>
                  </a:r>
                  <a:endParaRPr lang="ko-KR" altLang="en-US" sz="1200" b="1"/>
                </a:p>
              </p:txBody>
            </p:sp>
          </p:grp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9D677D07-520E-B98D-0533-761DFC83739F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784AA9B-6ACA-6266-EE2D-3720B87F22E0}"/>
                </a:ext>
              </a:extLst>
            </p:cNvPr>
            <p:cNvGrpSpPr/>
            <p:nvPr/>
          </p:nvGrpSpPr>
          <p:grpSpPr>
            <a:xfrm>
              <a:off x="4164827" y="3325482"/>
              <a:ext cx="3574212" cy="1595887"/>
              <a:chOff x="724619" y="3847380"/>
              <a:chExt cx="3574212" cy="1595887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968497E2-8876-3B4F-5D35-99C1C66F9DE1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DDD2ABAB-87BE-E7A2-EEB1-2B14113EA856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CC36CD76-A64E-A2D0-9FF0-CB590CE4633F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" name="타원 22">
                    <a:extLst>
                      <a:ext uri="{FF2B5EF4-FFF2-40B4-BE49-F238E27FC236}">
                        <a16:creationId xmlns:a16="http://schemas.microsoft.com/office/drawing/2014/main" id="{DB1A0CEA-B837-F2BB-15C3-8FDD59A8795C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" name="타원 23">
                    <a:extLst>
                      <a:ext uri="{FF2B5EF4-FFF2-40B4-BE49-F238E27FC236}">
                        <a16:creationId xmlns:a16="http://schemas.microsoft.com/office/drawing/2014/main" id="{F896E798-099A-F4EC-87DC-4EB9C74B10BF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91E79DD-804C-EBF1-98FA-6965CB628749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FF0000"/>
                      </a:solidFill>
                    </a:rPr>
                    <a:t>exposure 1</a:t>
                  </a:r>
                  <a:endParaRPr lang="ko-KR" altLang="en-US" sz="1200" b="1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07E22A5-980D-19B7-7300-17EAC4BF6E7F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814860D-BB38-FB4F-BB8C-35BF04C297CD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3</a:t>
                  </a:r>
                  <a:endParaRPr lang="ko-KR" altLang="en-US" sz="1200" b="1"/>
                </a:p>
              </p:txBody>
            </p:sp>
          </p:grp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280CEC5A-11A5-DFDB-170F-1641AF272418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5FEA487-06B9-BD94-A9BB-363BDCDC601B}"/>
                </a:ext>
              </a:extLst>
            </p:cNvPr>
            <p:cNvGrpSpPr/>
            <p:nvPr/>
          </p:nvGrpSpPr>
          <p:grpSpPr>
            <a:xfrm>
              <a:off x="7791941" y="3325482"/>
              <a:ext cx="3574212" cy="1595887"/>
              <a:chOff x="724619" y="3847380"/>
              <a:chExt cx="3574212" cy="1595887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00EF1F5E-A048-13BA-9499-4D9493F1E945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92709F10-A843-BE2E-105A-DA42DF445B3F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F532CB3E-265E-3042-6561-25EE09795801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타원 32">
                    <a:extLst>
                      <a:ext uri="{FF2B5EF4-FFF2-40B4-BE49-F238E27FC236}">
                        <a16:creationId xmlns:a16="http://schemas.microsoft.com/office/drawing/2014/main" id="{72ED9507-5EFF-6E33-BB54-152F92C8C58A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A3E3A25E-44D3-9200-3256-31B6060DD5A4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FBBD310-5C0C-A79D-A232-21E2FBC85EF9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FF0000"/>
                      </a:solidFill>
                    </a:rPr>
                    <a:t>exposure 1</a:t>
                  </a:r>
                  <a:endParaRPr lang="ko-KR" altLang="en-US" sz="1200" b="1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F269D4B-2D87-13A6-68ED-D6A2EE195B8D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F8E6C30-DEA3-CFD7-6369-5C3117133ECD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3</a:t>
                  </a:r>
                  <a:endParaRPr lang="ko-KR" altLang="en-US" sz="1200" b="1"/>
                </a:p>
              </p:txBody>
            </p:sp>
          </p:grp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7DE61F83-AC18-93F0-39FC-9086D03CDBE4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9BBAC7FD-D226-B8D5-F20F-7291B593364E}"/>
                </a:ext>
              </a:extLst>
            </p:cNvPr>
            <p:cNvCxnSpPr/>
            <p:nvPr/>
          </p:nvCxnSpPr>
          <p:spPr>
            <a:xfrm>
              <a:off x="820081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1C1E81-8DBE-572F-560C-96E59D1B2E64}"/>
                </a:ext>
              </a:extLst>
            </p:cNvPr>
            <p:cNvSpPr txBox="1"/>
            <p:nvPr/>
          </p:nvSpPr>
          <p:spPr>
            <a:xfrm>
              <a:off x="1721247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초기 </a:t>
              </a:r>
              <a:r>
                <a:rPr lang="en-US" altLang="ko-KR" sz="1200" b="1"/>
                <a:t>input</a:t>
              </a:r>
              <a:endParaRPr lang="ko-KR" altLang="en-US" sz="1200" b="1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0DCD0D14-73EE-4871-61D4-38B43E31F5C5}"/>
                </a:ext>
              </a:extLst>
            </p:cNvPr>
            <p:cNvCxnSpPr/>
            <p:nvPr/>
          </p:nvCxnSpPr>
          <p:spPr>
            <a:xfrm>
              <a:off x="4438569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30D8DE3-CCAA-A67F-C47E-17DDFD40186D}"/>
                </a:ext>
              </a:extLst>
            </p:cNvPr>
            <p:cNvSpPr txBox="1"/>
            <p:nvPr/>
          </p:nvSpPr>
          <p:spPr>
            <a:xfrm>
              <a:off x="5339735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Sequence 1</a:t>
              </a:r>
              <a:endParaRPr lang="ko-KR" altLang="en-US" sz="1200" b="1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69D6CDE1-7538-06A3-F7E0-3CAC1CFCF91B}"/>
                </a:ext>
              </a:extLst>
            </p:cNvPr>
            <p:cNvCxnSpPr/>
            <p:nvPr/>
          </p:nvCxnSpPr>
          <p:spPr>
            <a:xfrm>
              <a:off x="8057057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B46467-6842-1295-A9C0-232BF9689298}"/>
                </a:ext>
              </a:extLst>
            </p:cNvPr>
            <p:cNvSpPr txBox="1"/>
            <p:nvPr/>
          </p:nvSpPr>
          <p:spPr>
            <a:xfrm>
              <a:off x="8958223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Sequence 2</a:t>
              </a:r>
              <a:endParaRPr lang="ko-KR" altLang="en-US" sz="1200" b="1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FC6E5F3-928C-6448-2C83-A1D09573E7F7}"/>
              </a:ext>
            </a:extLst>
          </p:cNvPr>
          <p:cNvSpPr/>
          <p:nvPr/>
        </p:nvSpPr>
        <p:spPr>
          <a:xfrm>
            <a:off x="854872" y="6052449"/>
            <a:ext cx="3018086" cy="4658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exposure</a:t>
            </a:r>
            <a:r>
              <a:rPr lang="ko-KR" altLang="en-US" sz="1200" b="1">
                <a:solidFill>
                  <a:schemeClr val="tx1"/>
                </a:solidFill>
              </a:rPr>
              <a:t> </a:t>
            </a:r>
            <a:r>
              <a:rPr lang="en-US" altLang="ko-KR" sz="1200" b="1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65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2FFB61A-DB87-5B2B-9976-C2A44FB58A8F}"/>
              </a:ext>
            </a:extLst>
          </p:cNvPr>
          <p:cNvSpPr/>
          <p:nvPr/>
        </p:nvSpPr>
        <p:spPr>
          <a:xfrm>
            <a:off x="4479413" y="6052449"/>
            <a:ext cx="3018086" cy="4658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exposure</a:t>
            </a:r>
            <a:r>
              <a:rPr lang="ko-KR" altLang="en-US" sz="1200" b="1">
                <a:solidFill>
                  <a:schemeClr val="tx1"/>
                </a:solidFill>
              </a:rPr>
              <a:t> </a:t>
            </a:r>
            <a:r>
              <a:rPr lang="en-US" altLang="ko-KR" sz="1200" b="1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65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A3C5258-53EC-5D62-BB52-5B3F0AB8C67A}"/>
              </a:ext>
            </a:extLst>
          </p:cNvPr>
          <p:cNvSpPr/>
          <p:nvPr/>
        </p:nvSpPr>
        <p:spPr>
          <a:xfrm>
            <a:off x="8100785" y="6052449"/>
            <a:ext cx="3018086" cy="4658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exposure</a:t>
            </a:r>
            <a:r>
              <a:rPr lang="ko-KR" altLang="en-US" sz="1200" b="1">
                <a:solidFill>
                  <a:schemeClr val="tx1"/>
                </a:solidFill>
              </a:rPr>
              <a:t> </a:t>
            </a:r>
            <a:r>
              <a:rPr lang="en-US" altLang="ko-KR" sz="1200" b="1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65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0CB074B-497B-6881-8E85-5108EC82374B}"/>
              </a:ext>
            </a:extLst>
          </p:cNvPr>
          <p:cNvGrpSpPr/>
          <p:nvPr/>
        </p:nvGrpSpPr>
        <p:grpSpPr>
          <a:xfrm>
            <a:off x="3895648" y="3514412"/>
            <a:ext cx="2019755" cy="2777705"/>
            <a:chOff x="3894465" y="3605841"/>
            <a:chExt cx="2019755" cy="277770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E1193A82-7366-B7A4-0F25-9186D15C76E8}"/>
                </a:ext>
              </a:extLst>
            </p:cNvPr>
            <p:cNvGrpSpPr/>
            <p:nvPr/>
          </p:nvGrpSpPr>
          <p:grpSpPr>
            <a:xfrm>
              <a:off x="3894465" y="3605841"/>
              <a:ext cx="2019755" cy="2777705"/>
              <a:chOff x="7486554" y="3605842"/>
              <a:chExt cx="2019755" cy="2777705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A618225D-E133-B9B6-A72C-658DF42FFF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554" y="6383547"/>
                <a:ext cx="25248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0F36DEC6-EBD4-0218-1A3B-663EA382D1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39039" y="3605842"/>
                <a:ext cx="0" cy="277770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16587CE9-EBE6-77C6-CB00-6BB3DC2FBD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39039" y="3605842"/>
                <a:ext cx="176727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CD644700-3EC0-EEC4-A58F-4645077113A3}"/>
                </a:ext>
              </a:extLst>
            </p:cNvPr>
            <p:cNvCxnSpPr>
              <a:cxnSpLocks/>
            </p:cNvCxnSpPr>
            <p:nvPr/>
          </p:nvCxnSpPr>
          <p:spPr>
            <a:xfrm>
              <a:off x="5914220" y="3605842"/>
              <a:ext cx="0" cy="5520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FFAE715-A304-B538-1844-251B8A1149F8}"/>
              </a:ext>
            </a:extLst>
          </p:cNvPr>
          <p:cNvGrpSpPr/>
          <p:nvPr/>
        </p:nvGrpSpPr>
        <p:grpSpPr>
          <a:xfrm>
            <a:off x="7488843" y="3507657"/>
            <a:ext cx="2019755" cy="2777705"/>
            <a:chOff x="3894465" y="3605841"/>
            <a:chExt cx="2019755" cy="2777705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3394CD82-398A-EEC1-C2D5-E59C11615F81}"/>
                </a:ext>
              </a:extLst>
            </p:cNvPr>
            <p:cNvGrpSpPr/>
            <p:nvPr/>
          </p:nvGrpSpPr>
          <p:grpSpPr>
            <a:xfrm>
              <a:off x="3894465" y="3605841"/>
              <a:ext cx="2019755" cy="2777705"/>
              <a:chOff x="7486554" y="3605842"/>
              <a:chExt cx="2019755" cy="2777705"/>
            </a:xfrm>
          </p:grpSpPr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333CA1FB-D055-9D33-43AD-DD3C13B992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554" y="6383547"/>
                <a:ext cx="25248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D0793419-7FE0-4D1C-CD6A-8A23513D8A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39039" y="3605842"/>
                <a:ext cx="0" cy="277770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D1B896B2-D12C-4ED2-60FA-8F6913478B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39039" y="3605842"/>
                <a:ext cx="176727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BF1C57E0-CBC2-872E-A6A7-A8BF490E8AE0}"/>
                </a:ext>
              </a:extLst>
            </p:cNvPr>
            <p:cNvCxnSpPr>
              <a:cxnSpLocks/>
            </p:cNvCxnSpPr>
            <p:nvPr/>
          </p:nvCxnSpPr>
          <p:spPr>
            <a:xfrm>
              <a:off x="5914220" y="3605842"/>
              <a:ext cx="0" cy="5520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81C2BBC-6D8D-56A9-62D0-FE7C57A55459}"/>
              </a:ext>
            </a:extLst>
          </p:cNvPr>
          <p:cNvGrpSpPr/>
          <p:nvPr/>
        </p:nvGrpSpPr>
        <p:grpSpPr>
          <a:xfrm>
            <a:off x="11115987" y="3605842"/>
            <a:ext cx="891983" cy="2777705"/>
            <a:chOff x="11115987" y="3605842"/>
            <a:chExt cx="891983" cy="2777705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234FD90-FEC6-D13E-E268-B48D6DBC08B1}"/>
                </a:ext>
              </a:extLst>
            </p:cNvPr>
            <p:cNvGrpSpPr/>
            <p:nvPr/>
          </p:nvGrpSpPr>
          <p:grpSpPr>
            <a:xfrm>
              <a:off x="11115987" y="3605842"/>
              <a:ext cx="252485" cy="2777705"/>
              <a:chOff x="7486554" y="3605842"/>
              <a:chExt cx="252485" cy="2777705"/>
            </a:xfrm>
          </p:grpSpPr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DBD60381-1A16-69F1-FB6C-2C3EFF60C6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554" y="6383547"/>
                <a:ext cx="25248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F70558AA-3EC4-531A-BBC4-7BE05255C5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39039" y="3605842"/>
                <a:ext cx="0" cy="277770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A1D0E77E-BA01-F820-9EB3-37F6E770D6C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5315" y="3605842"/>
              <a:ext cx="6326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3125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4D0F-0CA7-0AE3-4BAB-26C7260F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A7C8356-9F34-17B3-B887-DC33D177A5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Multi Exposure Logic Mode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92ED14-129A-FB87-752E-B5803C2F253C}"/>
              </a:ext>
            </a:extLst>
          </p:cNvPr>
          <p:cNvSpPr txBox="1"/>
          <p:nvPr/>
        </p:nvSpPr>
        <p:spPr>
          <a:xfrm>
            <a:off x="578541" y="932864"/>
            <a:ext cx="10969025" cy="167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모드 별 정의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mode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2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: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Using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Two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Sample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초기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Exposure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선택 값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: Exposure 1 (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예시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1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에서 초기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input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으로 설정한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Exposure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와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가장 근접한 두 값을 선택한 뒤 평균 출력</a:t>
            </a:r>
            <a:endParaRPr lang="en-US" altLang="ko-KR" sz="1400" dirty="0">
              <a:solidFill>
                <a:srgbClr val="FF0000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2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1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에서 출력된 값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(33)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과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가장 근접한 두 값을 선택한 뒤 평균 출력</a:t>
            </a:r>
            <a:endParaRPr lang="en-US" altLang="ko-KR" sz="1400" dirty="0">
              <a:solidFill>
                <a:srgbClr val="FF0000"/>
              </a:solidFill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F6D7BC4-6A6B-BB1B-50D4-82154755D5C7}"/>
              </a:ext>
            </a:extLst>
          </p:cNvPr>
          <p:cNvGrpSpPr/>
          <p:nvPr/>
        </p:nvGrpSpPr>
        <p:grpSpPr>
          <a:xfrm>
            <a:off x="578541" y="4024221"/>
            <a:ext cx="10787612" cy="1974495"/>
            <a:chOff x="578541" y="3325482"/>
            <a:chExt cx="10787612" cy="197449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C4E3A1C-CA41-B4FB-0A95-D05361A20A55}"/>
                </a:ext>
              </a:extLst>
            </p:cNvPr>
            <p:cNvGrpSpPr/>
            <p:nvPr/>
          </p:nvGrpSpPr>
          <p:grpSpPr>
            <a:xfrm>
              <a:off x="578541" y="3325483"/>
              <a:ext cx="3574212" cy="1595887"/>
              <a:chOff x="724619" y="3847380"/>
              <a:chExt cx="3574212" cy="1595887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D0B47DD2-A433-7CF9-0F74-E7A62E72C3B7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6" name="그룹 5">
                  <a:extLst>
                    <a:ext uri="{FF2B5EF4-FFF2-40B4-BE49-F238E27FC236}">
                      <a16:creationId xmlns:a16="http://schemas.microsoft.com/office/drawing/2014/main" id="{D43087A5-8CCA-33A0-51CD-43746525A93D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3" name="타원 2">
                    <a:extLst>
                      <a:ext uri="{FF2B5EF4-FFF2-40B4-BE49-F238E27FC236}">
                        <a16:creationId xmlns:a16="http://schemas.microsoft.com/office/drawing/2014/main" id="{0F3F1C78-72D0-5970-66D8-4F70302527F4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" name="타원 3">
                    <a:extLst>
                      <a:ext uri="{FF2B5EF4-FFF2-40B4-BE49-F238E27FC236}">
                        <a16:creationId xmlns:a16="http://schemas.microsoft.com/office/drawing/2014/main" id="{EDAEFA2B-1DD8-087B-3444-B9C89E267F62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" name="타원 4">
                    <a:extLst>
                      <a:ext uri="{FF2B5EF4-FFF2-40B4-BE49-F238E27FC236}">
                        <a16:creationId xmlns:a16="http://schemas.microsoft.com/office/drawing/2014/main" id="{018CAD95-5991-85A1-BC5E-ACD7D5068CEF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890E025-9C00-1DAF-5435-42862E31C4FB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FF0000"/>
                      </a:solidFill>
                    </a:rPr>
                    <a:t>exposure 1</a:t>
                  </a:r>
                  <a:endParaRPr lang="ko-KR" altLang="en-US" sz="1200" b="1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22C2D19-8DFC-0C5F-C150-15F1DCE2DD8A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53CB9C-35FC-4CB1-8E4A-62158DF234C3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3</a:t>
                  </a:r>
                  <a:endParaRPr lang="ko-KR" altLang="en-US" sz="1200" b="1"/>
                </a:p>
              </p:txBody>
            </p:sp>
          </p:grp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BC06D74B-70E4-8B7B-1602-63E06A24BF52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A8D193B-9342-A4DA-58A9-30D2BC09876D}"/>
                </a:ext>
              </a:extLst>
            </p:cNvPr>
            <p:cNvGrpSpPr/>
            <p:nvPr/>
          </p:nvGrpSpPr>
          <p:grpSpPr>
            <a:xfrm>
              <a:off x="4164827" y="3325482"/>
              <a:ext cx="3574212" cy="1595887"/>
              <a:chOff x="724619" y="3847380"/>
              <a:chExt cx="3574212" cy="1595887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7BC8441F-DCA4-C749-104A-68BFD65CC6ED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3961300B-8F94-40B9-BE50-2B56AAC28D19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BE3015EB-C597-D7DE-53F8-9FF008F8CBE5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" name="타원 22">
                    <a:extLst>
                      <a:ext uri="{FF2B5EF4-FFF2-40B4-BE49-F238E27FC236}">
                        <a16:creationId xmlns:a16="http://schemas.microsoft.com/office/drawing/2014/main" id="{3315BB91-2A1C-058F-8EE1-52568DE25DC5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" name="타원 23">
                    <a:extLst>
                      <a:ext uri="{FF2B5EF4-FFF2-40B4-BE49-F238E27FC236}">
                        <a16:creationId xmlns:a16="http://schemas.microsoft.com/office/drawing/2014/main" id="{41D1A689-0230-70E1-B607-709593E9E579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69E28B2-5DA8-82FB-DD61-CFD008604276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FF0000"/>
                      </a:solidFill>
                    </a:rPr>
                    <a:t>exposure 1</a:t>
                  </a:r>
                  <a:endParaRPr lang="ko-KR" altLang="en-US" sz="1200" b="1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76B410E-484D-4871-A84B-3163E4AA087E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E6FD074-D044-4AC5-C6D9-10863FF5ECD4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FF0000"/>
                      </a:solidFill>
                    </a:rPr>
                    <a:t>exposure 3</a:t>
                  </a:r>
                  <a:endParaRPr lang="ko-KR" altLang="en-US" sz="1200" b="1">
                    <a:solidFill>
                      <a:srgbClr val="FF0000"/>
                    </a:solidFill>
                  </a:endParaRPr>
                </a:p>
              </p:txBody>
            </p:sp>
          </p:grp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7E38793B-272A-C1BD-C623-EA58092D4A8E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B5515C5-7499-8B5E-F1DF-4D474FD9930B}"/>
                </a:ext>
              </a:extLst>
            </p:cNvPr>
            <p:cNvGrpSpPr/>
            <p:nvPr/>
          </p:nvGrpSpPr>
          <p:grpSpPr>
            <a:xfrm>
              <a:off x="7791941" y="3325482"/>
              <a:ext cx="3574212" cy="1595887"/>
              <a:chOff x="724619" y="3847380"/>
              <a:chExt cx="3574212" cy="1595887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277CB56-7971-9345-A9E3-1B96FA8A8318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59D0B2C6-9E33-F9D9-0EA5-845855B31088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61418CF3-EE33-D4A4-3118-D653AEC190AB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타원 32">
                    <a:extLst>
                      <a:ext uri="{FF2B5EF4-FFF2-40B4-BE49-F238E27FC236}">
                        <a16:creationId xmlns:a16="http://schemas.microsoft.com/office/drawing/2014/main" id="{8CEA74F6-E77A-64F3-C135-B553B3725326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B3BD64EB-047F-B1C6-654C-1A3E74A69F34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9878CAC-A800-57CF-C4F9-675ECF6BD712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FF0000"/>
                      </a:solidFill>
                    </a:rPr>
                    <a:t>exposure 1</a:t>
                  </a:r>
                  <a:endParaRPr lang="ko-KR" altLang="en-US" sz="1200" b="1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B2CD3BC-459A-E091-0AC3-218F44982700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8765718-9759-44C0-A9E1-6943D15B983A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FF0000"/>
                      </a:solidFill>
                    </a:rPr>
                    <a:t>exposure 3</a:t>
                  </a:r>
                  <a:endParaRPr lang="ko-KR" altLang="en-US" sz="1200" b="1">
                    <a:solidFill>
                      <a:srgbClr val="FF0000"/>
                    </a:solidFill>
                  </a:endParaRPr>
                </a:p>
              </p:txBody>
            </p:sp>
          </p:grp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FBF4FF66-00DE-75B3-6C5D-657C44A95864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D1158A45-F11E-7B09-B48A-722C5225F2A2}"/>
                </a:ext>
              </a:extLst>
            </p:cNvPr>
            <p:cNvCxnSpPr/>
            <p:nvPr/>
          </p:nvCxnSpPr>
          <p:spPr>
            <a:xfrm>
              <a:off x="820081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E877673-923D-95B2-5ADF-A24A07A37649}"/>
                </a:ext>
              </a:extLst>
            </p:cNvPr>
            <p:cNvSpPr txBox="1"/>
            <p:nvPr/>
          </p:nvSpPr>
          <p:spPr>
            <a:xfrm>
              <a:off x="1721247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초기 </a:t>
              </a:r>
              <a:r>
                <a:rPr lang="en-US" altLang="ko-KR" sz="1200" b="1"/>
                <a:t>input</a:t>
              </a:r>
              <a:endParaRPr lang="ko-KR" altLang="en-US" sz="1200" b="1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DEB6A87E-257F-487F-1F41-8FC77D7B0465}"/>
                </a:ext>
              </a:extLst>
            </p:cNvPr>
            <p:cNvCxnSpPr/>
            <p:nvPr/>
          </p:nvCxnSpPr>
          <p:spPr>
            <a:xfrm>
              <a:off x="4438569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F86E38-83DB-CA57-41A5-3368A04388BA}"/>
                </a:ext>
              </a:extLst>
            </p:cNvPr>
            <p:cNvSpPr txBox="1"/>
            <p:nvPr/>
          </p:nvSpPr>
          <p:spPr>
            <a:xfrm>
              <a:off x="5339735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Sequence 1</a:t>
              </a:r>
              <a:endParaRPr lang="ko-KR" altLang="en-US" sz="1200" b="1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5D8B897-1451-FCDA-0FF5-FD044E5C4DD5}"/>
                </a:ext>
              </a:extLst>
            </p:cNvPr>
            <p:cNvCxnSpPr/>
            <p:nvPr/>
          </p:nvCxnSpPr>
          <p:spPr>
            <a:xfrm>
              <a:off x="8057057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0BB931F-7B7D-DEF1-FDD0-4D6015E38E8D}"/>
                </a:ext>
              </a:extLst>
            </p:cNvPr>
            <p:cNvSpPr txBox="1"/>
            <p:nvPr/>
          </p:nvSpPr>
          <p:spPr>
            <a:xfrm>
              <a:off x="8958223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Sequence 2</a:t>
              </a:r>
              <a:endParaRPr lang="ko-KR" altLang="en-US" sz="1200" b="1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E2E996-E5C0-2E2A-18A3-14392D9EC51D}"/>
              </a:ext>
            </a:extLst>
          </p:cNvPr>
          <p:cNvSpPr/>
          <p:nvPr/>
        </p:nvSpPr>
        <p:spPr>
          <a:xfrm>
            <a:off x="4468468" y="6150634"/>
            <a:ext cx="3018086" cy="4658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(exposure 1 + exposure 3) / 2</a:t>
            </a:r>
          </a:p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약 </a:t>
            </a:r>
            <a:r>
              <a:rPr lang="en-US" altLang="ko-KR" sz="1200" b="1">
                <a:solidFill>
                  <a:schemeClr val="tx1"/>
                </a:solidFill>
              </a:rPr>
              <a:t>33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85860C-F267-A3AA-1FF1-95BF0A7EFB7B}"/>
              </a:ext>
            </a:extLst>
          </p:cNvPr>
          <p:cNvSpPr/>
          <p:nvPr/>
        </p:nvSpPr>
        <p:spPr>
          <a:xfrm>
            <a:off x="8091848" y="6150634"/>
            <a:ext cx="3018086" cy="4658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(exposure 1 + exposure 3) / 2</a:t>
            </a:r>
          </a:p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약 </a:t>
            </a:r>
            <a:r>
              <a:rPr lang="en-US" altLang="ko-KR" sz="1200" b="1">
                <a:solidFill>
                  <a:schemeClr val="tx1"/>
                </a:solidFill>
              </a:rPr>
              <a:t>33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32B186F-D421-F912-4C05-1D4E9EEFB1E0}"/>
              </a:ext>
            </a:extLst>
          </p:cNvPr>
          <p:cNvGrpSpPr/>
          <p:nvPr/>
        </p:nvGrpSpPr>
        <p:grpSpPr>
          <a:xfrm>
            <a:off x="7486554" y="3605842"/>
            <a:ext cx="2019755" cy="2777705"/>
            <a:chOff x="7486554" y="3605842"/>
            <a:chExt cx="2019755" cy="2777705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DA7E63D0-ACA6-F6EC-B937-C0C31BA67E79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7486554" y="6383547"/>
              <a:ext cx="25248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F3AE4408-5A78-6AF4-331F-BB576B75B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9039" y="3605842"/>
              <a:ext cx="0" cy="277770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204EA566-43B7-F7DF-180E-F149E36DB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39039" y="3605842"/>
              <a:ext cx="176727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F941DD4-AC29-1272-C05E-4CC62A05EE1A}"/>
              </a:ext>
            </a:extLst>
          </p:cNvPr>
          <p:cNvCxnSpPr>
            <a:cxnSpLocks/>
          </p:cNvCxnSpPr>
          <p:nvPr/>
        </p:nvCxnSpPr>
        <p:spPr>
          <a:xfrm>
            <a:off x="9506309" y="3605842"/>
            <a:ext cx="0" cy="5520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5C286909-1F0B-90B0-7C78-5442C0723EB3}"/>
              </a:ext>
            </a:extLst>
          </p:cNvPr>
          <p:cNvGrpSpPr/>
          <p:nvPr/>
        </p:nvGrpSpPr>
        <p:grpSpPr>
          <a:xfrm>
            <a:off x="11115987" y="3605842"/>
            <a:ext cx="891983" cy="2777705"/>
            <a:chOff x="11115987" y="3605842"/>
            <a:chExt cx="891983" cy="277770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C8500C77-6F3E-F5CB-5D2C-28C06EAF89A7}"/>
                </a:ext>
              </a:extLst>
            </p:cNvPr>
            <p:cNvGrpSpPr/>
            <p:nvPr/>
          </p:nvGrpSpPr>
          <p:grpSpPr>
            <a:xfrm>
              <a:off x="11115987" y="3605842"/>
              <a:ext cx="252485" cy="2777705"/>
              <a:chOff x="7486554" y="3605842"/>
              <a:chExt cx="252485" cy="2777705"/>
            </a:xfrm>
          </p:grpSpPr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6BA39D3D-EA8C-B743-9C6C-6040376A58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554" y="6383547"/>
                <a:ext cx="25248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78648CF2-ADC9-96BE-B425-38D0841461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39039" y="3605842"/>
                <a:ext cx="0" cy="277770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5DC80400-D574-0D1A-0461-5927FF1E1967}"/>
                </a:ext>
              </a:extLst>
            </p:cNvPr>
            <p:cNvCxnSpPr>
              <a:cxnSpLocks/>
            </p:cNvCxnSpPr>
            <p:nvPr/>
          </p:nvCxnSpPr>
          <p:spPr>
            <a:xfrm>
              <a:off x="11375315" y="3605842"/>
              <a:ext cx="6326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21C4F12-DE13-C4AD-6FBA-62777EACED11}"/>
              </a:ext>
            </a:extLst>
          </p:cNvPr>
          <p:cNvSpPr/>
          <p:nvPr/>
        </p:nvSpPr>
        <p:spPr>
          <a:xfrm>
            <a:off x="860309" y="6150634"/>
            <a:ext cx="3018086" cy="4658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exposure 1</a:t>
            </a:r>
          </a:p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65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0F133E1-9E2E-9079-2F68-12C90CF8AA1D}"/>
              </a:ext>
            </a:extLst>
          </p:cNvPr>
          <p:cNvGrpSpPr/>
          <p:nvPr/>
        </p:nvGrpSpPr>
        <p:grpSpPr>
          <a:xfrm>
            <a:off x="3894465" y="3605841"/>
            <a:ext cx="2019755" cy="2777705"/>
            <a:chOff x="3894465" y="3605841"/>
            <a:chExt cx="2019755" cy="2777705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15A52D29-57B2-CDC1-489F-649D45CA6304}"/>
                </a:ext>
              </a:extLst>
            </p:cNvPr>
            <p:cNvGrpSpPr/>
            <p:nvPr/>
          </p:nvGrpSpPr>
          <p:grpSpPr>
            <a:xfrm>
              <a:off x="3894465" y="3605841"/>
              <a:ext cx="2019755" cy="2777705"/>
              <a:chOff x="7486554" y="3605842"/>
              <a:chExt cx="2019755" cy="2777705"/>
            </a:xfrm>
          </p:grpSpPr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D17AE2D1-3F0A-5C43-8B3F-1B1C634493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6554" y="6383547"/>
                <a:ext cx="25248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787DCA40-6A0D-FE6B-847E-DBA611CF0A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39039" y="3605842"/>
                <a:ext cx="0" cy="277770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89F30006-453E-9EA2-8E34-C822A1CA78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39039" y="3605842"/>
                <a:ext cx="176727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87ACFBC4-7599-D0F3-5C6F-5F5C162DF7B7}"/>
                </a:ext>
              </a:extLst>
            </p:cNvPr>
            <p:cNvCxnSpPr>
              <a:cxnSpLocks/>
            </p:cNvCxnSpPr>
            <p:nvPr/>
          </p:nvCxnSpPr>
          <p:spPr>
            <a:xfrm>
              <a:off x="5914220" y="3605842"/>
              <a:ext cx="0" cy="5520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1629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7165E-1EFC-4A04-0EAB-613EADF12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2643873-B07F-1C70-C9EF-C283038F8B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Multi Exposure Logic Mode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D66F9D-C2DD-8684-A66D-77C914B928B0}"/>
              </a:ext>
            </a:extLst>
          </p:cNvPr>
          <p:cNvSpPr txBox="1"/>
          <p:nvPr/>
        </p:nvSpPr>
        <p:spPr>
          <a:xfrm>
            <a:off x="578541" y="932864"/>
            <a:ext cx="10969025" cy="23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모드 별 정의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mode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3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: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Average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초기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Exposure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선택 값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: Average mode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에서는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Don‘t care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1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과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2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의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각 </a:t>
            </a:r>
            <a:r>
              <a:rPr lang="en-US" altLang="ko-KR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index(exposure n)</a:t>
            </a:r>
            <a:r>
              <a:rPr lang="ko-KR" altLang="en-US" sz="1400" dirty="0" err="1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끼리의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차이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를 구함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위 값이 </a:t>
            </a:r>
            <a:r>
              <a:rPr lang="en-US" altLang="ko-KR" sz="1400" dirty="0" err="1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sw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로 입력한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sequence threshold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보다 클 경우 계산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X / threshold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가 넘지 않는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index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의 </a:t>
            </a:r>
            <a:r>
              <a:rPr lang="ko-KR" altLang="en-US" sz="1400" dirty="0" err="1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값끼리의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평균 계산을 함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현재 테스트 환경에서는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동일 </a:t>
            </a:r>
            <a:r>
              <a:rPr lang="en-US" altLang="ko-KR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AF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값을 넣어주고 있기 때문에 </a:t>
            </a:r>
            <a:r>
              <a:rPr lang="en-US" altLang="ko-KR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threshold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를 넣는 것이 무의미함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</a:t>
            </a: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해당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threshold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로직 검증은 </a:t>
            </a:r>
            <a:r>
              <a:rPr lang="en-US" altLang="ko-KR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(input </a:t>
            </a:r>
            <a:r>
              <a:rPr lang="ko-KR" altLang="en-US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값 변경 이후</a:t>
            </a:r>
            <a:r>
              <a:rPr lang="en-US" altLang="ko-KR" sz="1400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)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정찬우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CL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님이 진행할 예정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5DDD900-8C12-E1A1-7702-461049D19899}"/>
              </a:ext>
            </a:extLst>
          </p:cNvPr>
          <p:cNvGrpSpPr/>
          <p:nvPr/>
        </p:nvGrpSpPr>
        <p:grpSpPr>
          <a:xfrm>
            <a:off x="578541" y="4024221"/>
            <a:ext cx="10787612" cy="1974495"/>
            <a:chOff x="578541" y="3325482"/>
            <a:chExt cx="10787612" cy="197449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8591B67-82B6-28D2-EA2A-2CF8DE2CB370}"/>
                </a:ext>
              </a:extLst>
            </p:cNvPr>
            <p:cNvGrpSpPr/>
            <p:nvPr/>
          </p:nvGrpSpPr>
          <p:grpSpPr>
            <a:xfrm>
              <a:off x="578541" y="3325483"/>
              <a:ext cx="3574212" cy="1595887"/>
              <a:chOff x="724619" y="3847380"/>
              <a:chExt cx="3574212" cy="1595887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C25D7419-855D-052B-E74D-0C4E808FD0A3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6" name="그룹 5">
                  <a:extLst>
                    <a:ext uri="{FF2B5EF4-FFF2-40B4-BE49-F238E27FC236}">
                      <a16:creationId xmlns:a16="http://schemas.microsoft.com/office/drawing/2014/main" id="{84342424-D4E4-DA2C-CC9D-10369EB34BB4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3" name="타원 2">
                    <a:extLst>
                      <a:ext uri="{FF2B5EF4-FFF2-40B4-BE49-F238E27FC236}">
                        <a16:creationId xmlns:a16="http://schemas.microsoft.com/office/drawing/2014/main" id="{DE369290-1B10-F92A-C191-832162A77AF1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" name="타원 3">
                    <a:extLst>
                      <a:ext uri="{FF2B5EF4-FFF2-40B4-BE49-F238E27FC236}">
                        <a16:creationId xmlns:a16="http://schemas.microsoft.com/office/drawing/2014/main" id="{F750FE13-6462-7412-F718-43E22807E6B1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" name="타원 4">
                    <a:extLst>
                      <a:ext uri="{FF2B5EF4-FFF2-40B4-BE49-F238E27FC236}">
                        <a16:creationId xmlns:a16="http://schemas.microsoft.com/office/drawing/2014/main" id="{D5C97B0B-91DA-9C78-9379-BCFEF07AD9C9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D0D2D74-F0E5-83F8-A314-1C1D8C3DDF30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1</a:t>
                  </a:r>
                  <a:endParaRPr lang="ko-KR" altLang="en-US" sz="1200" b="1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361DCA8-51C8-A307-09A8-654CB3D750FF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455AA2-9016-A296-1E35-2D4F4F4D1806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3</a:t>
                  </a:r>
                  <a:endParaRPr lang="ko-KR" altLang="en-US" sz="1200" b="1"/>
                </a:p>
              </p:txBody>
            </p:sp>
          </p:grp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0BDE99D3-B488-EFE1-10C1-61F3BFC7AA42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9F9EBB8-FAE6-0FDD-060D-95D47E71D0F1}"/>
                </a:ext>
              </a:extLst>
            </p:cNvPr>
            <p:cNvGrpSpPr/>
            <p:nvPr/>
          </p:nvGrpSpPr>
          <p:grpSpPr>
            <a:xfrm>
              <a:off x="4164827" y="3325482"/>
              <a:ext cx="3574212" cy="1595887"/>
              <a:chOff x="724619" y="3847380"/>
              <a:chExt cx="3574212" cy="1595887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AF8CF2D6-A98C-0CD4-3E10-324825BF5675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F6B7E1D1-73C9-D6A4-81F5-EC312BDD4193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BF13C0D8-8C51-6204-D441-8F4D322D4536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" name="타원 22">
                    <a:extLst>
                      <a:ext uri="{FF2B5EF4-FFF2-40B4-BE49-F238E27FC236}">
                        <a16:creationId xmlns:a16="http://schemas.microsoft.com/office/drawing/2014/main" id="{A2C45C4F-DC4B-1783-1D74-D32E707148A3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" name="타원 23">
                    <a:extLst>
                      <a:ext uri="{FF2B5EF4-FFF2-40B4-BE49-F238E27FC236}">
                        <a16:creationId xmlns:a16="http://schemas.microsoft.com/office/drawing/2014/main" id="{54771448-9524-DE1A-CB79-B1C9A8425EDB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574CF3F-EB4C-F9BD-00A3-F26E1DFDB958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1</a:t>
                  </a:r>
                  <a:endParaRPr lang="ko-KR" altLang="en-US" sz="1200" b="1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EC5D6E9-DF56-3357-6866-B99F29F52C95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3B591BB-A646-A627-336A-0B2A145FF54B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3</a:t>
                  </a:r>
                  <a:endParaRPr lang="ko-KR" altLang="en-US" sz="1200" b="1"/>
                </a:p>
              </p:txBody>
            </p:sp>
          </p:grp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82A1E19F-D610-435E-D9AF-2C4EA87BA7CF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18E10D11-CFB1-C1E4-4027-A02A01B87E28}"/>
                </a:ext>
              </a:extLst>
            </p:cNvPr>
            <p:cNvGrpSpPr/>
            <p:nvPr/>
          </p:nvGrpSpPr>
          <p:grpSpPr>
            <a:xfrm>
              <a:off x="7791941" y="3325482"/>
              <a:ext cx="3574212" cy="1595887"/>
              <a:chOff x="724619" y="3847380"/>
              <a:chExt cx="3574212" cy="1595887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BD78977A-9F77-1AE1-05C5-DBE47145BBAC}"/>
                  </a:ext>
                </a:extLst>
              </p:cNvPr>
              <p:cNvGrpSpPr/>
              <p:nvPr/>
            </p:nvGrpSpPr>
            <p:grpSpPr>
              <a:xfrm>
                <a:off x="724619" y="4140680"/>
                <a:ext cx="3574212" cy="1109447"/>
                <a:chOff x="724619" y="3907767"/>
                <a:chExt cx="3574212" cy="1109447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29F776A0-F451-3EF6-2E47-3DB387B2F7A8}"/>
                    </a:ext>
                  </a:extLst>
                </p:cNvPr>
                <p:cNvGrpSpPr/>
                <p:nvPr/>
              </p:nvGrpSpPr>
              <p:grpSpPr>
                <a:xfrm>
                  <a:off x="966159" y="3907767"/>
                  <a:ext cx="3091132" cy="802256"/>
                  <a:chOff x="983411" y="3847383"/>
                  <a:chExt cx="3091132" cy="802256"/>
                </a:xfrm>
              </p:grpSpPr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D0B0A9DA-6A17-F79E-B395-3BA1403B0810}"/>
                      </a:ext>
                    </a:extLst>
                  </p:cNvPr>
                  <p:cNvSpPr/>
                  <p:nvPr/>
                </p:nvSpPr>
                <p:spPr>
                  <a:xfrm>
                    <a:off x="983411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65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타원 32">
                    <a:extLst>
                      <a:ext uri="{FF2B5EF4-FFF2-40B4-BE49-F238E27FC236}">
                        <a16:creationId xmlns:a16="http://schemas.microsoft.com/office/drawing/2014/main" id="{9D2B6A42-45DD-C254-E285-EA76C45D9B2A}"/>
                      </a:ext>
                    </a:extLst>
                  </p:cNvPr>
                  <p:cNvSpPr/>
                  <p:nvPr/>
                </p:nvSpPr>
                <p:spPr>
                  <a:xfrm>
                    <a:off x="2127849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200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5C8C28F1-4878-095C-A63E-D79D2FBCF33A}"/>
                      </a:ext>
                    </a:extLst>
                  </p:cNvPr>
                  <p:cNvSpPr/>
                  <p:nvPr/>
                </p:nvSpPr>
                <p:spPr>
                  <a:xfrm>
                    <a:off x="3272287" y="3847383"/>
                    <a:ext cx="802256" cy="802256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>
                        <a:solidFill>
                          <a:schemeClr val="tx1"/>
                        </a:solidFill>
                      </a:rPr>
                      <a:t>0.1</a:t>
                    </a:r>
                    <a:endParaRPr lang="ko-KR" altLang="en-US" sz="1100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99A2AE3-0981-CB2C-4529-D2FB70CCC108}"/>
                    </a:ext>
                  </a:extLst>
                </p:cNvPr>
                <p:cNvSpPr txBox="1"/>
                <p:nvPr/>
              </p:nvSpPr>
              <p:spPr>
                <a:xfrm>
                  <a:off x="724619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1</a:t>
                  </a:r>
                  <a:endParaRPr lang="ko-KR" altLang="en-US" sz="1200" b="1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4541C2-52A3-A546-D507-D8AD9CC4ED4C}"/>
                    </a:ext>
                  </a:extLst>
                </p:cNvPr>
                <p:cNvSpPr txBox="1"/>
                <p:nvPr/>
              </p:nvSpPr>
              <p:spPr>
                <a:xfrm>
                  <a:off x="1869057" y="4740215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2</a:t>
                  </a:r>
                  <a:endParaRPr lang="ko-KR" altLang="en-US" sz="1200" b="1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1EA06AB-2925-35A0-0D31-A3182164A0F2}"/>
                    </a:ext>
                  </a:extLst>
                </p:cNvPr>
                <p:cNvSpPr txBox="1"/>
                <p:nvPr/>
              </p:nvSpPr>
              <p:spPr>
                <a:xfrm>
                  <a:off x="3013495" y="4740214"/>
                  <a:ext cx="12853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exposure 3</a:t>
                  </a:r>
                  <a:endParaRPr lang="ko-KR" altLang="en-US" sz="1200" b="1"/>
                </a:p>
              </p:txBody>
            </p:sp>
          </p:grp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2CF2E8A-4444-EA7F-8CFF-D68955F3F467}"/>
                  </a:ext>
                </a:extLst>
              </p:cNvPr>
              <p:cNvCxnSpPr/>
              <p:nvPr/>
            </p:nvCxnSpPr>
            <p:spPr>
              <a:xfrm>
                <a:off x="4298831" y="3847380"/>
                <a:ext cx="0" cy="159588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A07E04C2-7234-3FA3-2703-4D36E0C69F5F}"/>
                </a:ext>
              </a:extLst>
            </p:cNvPr>
            <p:cNvCxnSpPr/>
            <p:nvPr/>
          </p:nvCxnSpPr>
          <p:spPr>
            <a:xfrm>
              <a:off x="820081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0B219E-F34D-9877-3852-E05FCEF0C016}"/>
                </a:ext>
              </a:extLst>
            </p:cNvPr>
            <p:cNvSpPr txBox="1"/>
            <p:nvPr/>
          </p:nvSpPr>
          <p:spPr>
            <a:xfrm>
              <a:off x="1721247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Sequence 1</a:t>
              </a:r>
              <a:endParaRPr lang="ko-KR" altLang="en-US" sz="1200" b="1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DE0131-7B5B-2F65-1767-DA98DB8796AE}"/>
                </a:ext>
              </a:extLst>
            </p:cNvPr>
            <p:cNvCxnSpPr/>
            <p:nvPr/>
          </p:nvCxnSpPr>
          <p:spPr>
            <a:xfrm>
              <a:off x="4438569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7FAA8C5-38C1-4616-FBC8-D9A4A7099A22}"/>
                </a:ext>
              </a:extLst>
            </p:cNvPr>
            <p:cNvSpPr txBox="1"/>
            <p:nvPr/>
          </p:nvSpPr>
          <p:spPr>
            <a:xfrm>
              <a:off x="5339735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Sequence 2</a:t>
              </a:r>
              <a:endParaRPr lang="ko-KR" altLang="en-US" sz="1200" b="1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BFB82C8C-C5F2-C92D-DAD8-5A454DFEBEB2}"/>
                </a:ext>
              </a:extLst>
            </p:cNvPr>
            <p:cNvCxnSpPr/>
            <p:nvPr/>
          </p:nvCxnSpPr>
          <p:spPr>
            <a:xfrm>
              <a:off x="8057057" y="4994694"/>
              <a:ext cx="309113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D87BF4D-0B1E-DD4B-87D8-CF6EE65E3EB6}"/>
                </a:ext>
              </a:extLst>
            </p:cNvPr>
            <p:cNvSpPr txBox="1"/>
            <p:nvPr/>
          </p:nvSpPr>
          <p:spPr>
            <a:xfrm>
              <a:off x="8958223" y="5022978"/>
              <a:ext cx="12853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/>
                <a:t>Sequence 3</a:t>
              </a:r>
              <a:endParaRPr lang="ko-KR" altLang="en-US" sz="1200" b="1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25D9E2-E7AC-A332-C231-6DE6C6CC79D1}"/>
              </a:ext>
            </a:extLst>
          </p:cNvPr>
          <p:cNvSpPr/>
          <p:nvPr/>
        </p:nvSpPr>
        <p:spPr>
          <a:xfrm>
            <a:off x="4164827" y="6150634"/>
            <a:ext cx="3574211" cy="4658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(exposure 1 + exposure2 + exposure 3) / 3</a:t>
            </a:r>
          </a:p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약 </a:t>
            </a:r>
            <a:r>
              <a:rPr lang="en-US" altLang="ko-KR" sz="1200" b="1">
                <a:solidFill>
                  <a:schemeClr val="tx1"/>
                </a:solidFill>
              </a:rPr>
              <a:t>88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82980E-E322-ECE6-E210-DD99D85C3D4D}"/>
              </a:ext>
            </a:extLst>
          </p:cNvPr>
          <p:cNvSpPr/>
          <p:nvPr/>
        </p:nvSpPr>
        <p:spPr>
          <a:xfrm>
            <a:off x="7813785" y="6150634"/>
            <a:ext cx="3574211" cy="4658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(exposure 1 + exposure2 + exposure 3) / 3</a:t>
            </a:r>
          </a:p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약 </a:t>
            </a:r>
            <a:r>
              <a:rPr lang="en-US" altLang="ko-KR" sz="1200" b="1">
                <a:solidFill>
                  <a:schemeClr val="tx1"/>
                </a:solidFill>
              </a:rPr>
              <a:t>88 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D917A46E-CCDB-C72E-1B8F-994E2BFCF905}"/>
              </a:ext>
            </a:extLst>
          </p:cNvPr>
          <p:cNvGrpSpPr/>
          <p:nvPr/>
        </p:nvGrpSpPr>
        <p:grpSpPr>
          <a:xfrm>
            <a:off x="1221209" y="3860321"/>
            <a:ext cx="3596921" cy="457201"/>
            <a:chOff x="1221209" y="4024221"/>
            <a:chExt cx="3596921" cy="293301"/>
          </a:xfrm>
        </p:grpSpPr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50D0B099-016D-58CA-6407-D068F4C73C68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1221209" y="4024221"/>
              <a:ext cx="0" cy="293301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0397330-BE8B-BDBA-BFC8-CFAD75DCD2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8130" y="4038841"/>
              <a:ext cx="0" cy="278681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78841D01-CB37-EA7F-1C8E-2B8CB87C0E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1209" y="4024221"/>
              <a:ext cx="3596921" cy="1462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EC772BF-2BF3-26FA-DE68-AFD4572BF856}"/>
              </a:ext>
            </a:extLst>
          </p:cNvPr>
          <p:cNvGrpSpPr/>
          <p:nvPr/>
        </p:nvGrpSpPr>
        <p:grpSpPr>
          <a:xfrm>
            <a:off x="2343657" y="3957178"/>
            <a:ext cx="3596921" cy="372908"/>
            <a:chOff x="1221209" y="4024221"/>
            <a:chExt cx="3596921" cy="293301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29F471B-58CD-3B70-984B-8489E325A7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1209" y="4024221"/>
              <a:ext cx="0" cy="293301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E44F780-7F2C-3896-DC6D-E5C823ED2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8130" y="4038841"/>
              <a:ext cx="0" cy="278681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4E46FEF-8721-B2CA-F9A6-A8609C5ED7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1209" y="4024221"/>
              <a:ext cx="3596921" cy="1462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BE76FED-06F5-8435-6C04-85065B6AC471}"/>
              </a:ext>
            </a:extLst>
          </p:cNvPr>
          <p:cNvGrpSpPr/>
          <p:nvPr/>
        </p:nvGrpSpPr>
        <p:grpSpPr>
          <a:xfrm>
            <a:off x="3514547" y="4099467"/>
            <a:ext cx="3596921" cy="230617"/>
            <a:chOff x="1221209" y="4024221"/>
            <a:chExt cx="3596921" cy="293301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271D29B3-1CBA-FB5A-719C-920C04B6B1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1209" y="4024221"/>
              <a:ext cx="0" cy="29330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5C8FE9CD-8DC5-584F-D7E1-464053537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8130" y="4038841"/>
              <a:ext cx="0" cy="27868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95AE3E07-F1B6-38FA-C9DA-A3DACC01C8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1209" y="4024221"/>
              <a:ext cx="3596921" cy="1462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7194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E65B-21C2-D523-7A63-AA1A5828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2D0476-37F6-F7C6-083E-04F1433D0AD1}"/>
              </a:ext>
            </a:extLst>
          </p:cNvPr>
          <p:cNvSpPr txBox="1">
            <a:spLocks/>
          </p:cNvSpPr>
          <p:nvPr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10</a:t>
            </a:fld>
            <a:endParaRPr lang="ko-KR" altLang="en-US" sz="9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13D44ED-412C-DE6C-70E8-07C3BC1A7A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BC76D7-47F6-D439-C522-CAC96425C5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로직 검증 실험 방식 및 결과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77481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CFD8-1ED1-C15E-0F5E-C1570228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4E937C6-C6B1-676B-F66B-D347D0B0704C}"/>
              </a:ext>
            </a:extLst>
          </p:cNvPr>
          <p:cNvCxnSpPr/>
          <p:nvPr/>
        </p:nvCxnSpPr>
        <p:spPr>
          <a:xfrm>
            <a:off x="3892731" y="1271451"/>
            <a:ext cx="0" cy="4998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E89995A-E00E-875D-0FD0-44A93887B304}"/>
              </a:ext>
            </a:extLst>
          </p:cNvPr>
          <p:cNvCxnSpPr/>
          <p:nvPr/>
        </p:nvCxnSpPr>
        <p:spPr>
          <a:xfrm>
            <a:off x="7972696" y="1271451"/>
            <a:ext cx="0" cy="4998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4EB646-2D70-A6A9-DFBA-5BF8031045BA}"/>
              </a:ext>
            </a:extLst>
          </p:cNvPr>
          <p:cNvSpPr txBox="1"/>
          <p:nvPr/>
        </p:nvSpPr>
        <p:spPr>
          <a:xfrm>
            <a:off x="578541" y="1112721"/>
            <a:ext cx="3266294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 모드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1 – Using Single Sample</a:t>
            </a:r>
            <a:endParaRPr lang="ko-KR" altLang="en-US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EFE63-815C-56DD-F4BC-C3112A6964F7}"/>
              </a:ext>
            </a:extLst>
          </p:cNvPr>
          <p:cNvSpPr txBox="1"/>
          <p:nvPr/>
        </p:nvSpPr>
        <p:spPr>
          <a:xfrm>
            <a:off x="4109867" y="1112721"/>
            <a:ext cx="3266294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 모드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2 – Using Two Sample</a:t>
            </a:r>
            <a:endParaRPr lang="ko-KR" altLang="en-US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0DB1A-4D08-98F0-262F-3B11972F6B34}"/>
              </a:ext>
            </a:extLst>
          </p:cNvPr>
          <p:cNvSpPr txBox="1"/>
          <p:nvPr/>
        </p:nvSpPr>
        <p:spPr>
          <a:xfrm>
            <a:off x="8251374" y="1112720"/>
            <a:ext cx="3266294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 모드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3 – Averaging</a:t>
            </a:r>
            <a:endParaRPr lang="ko-KR" altLang="en-US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2A1C4B-09DA-013D-2CFB-C512A19BEA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8541" y="1596569"/>
            <a:ext cx="3218397" cy="361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Group Number = 2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인 조건에서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AF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신호가 정상 출력되는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테스트 예시 조건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1-1) (Exp 100 -  Diff 2) , (Exp 1, Diff 2048)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조건에서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AF </a:t>
            </a:r>
            <a:r>
              <a:rPr lang="en-US" altLang="ko-KR" sz="1100" dirty="0" err="1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MultiExposure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가 정상 동작하는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기준 출력은 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Exp 100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임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1-2) (Exp 100 -  Diff 10) , (Exp 1, Diff 5)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조건에서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AF </a:t>
            </a:r>
            <a:r>
              <a:rPr lang="en-US" altLang="ko-KR" sz="1100" dirty="0" err="1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MultiExposure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 출력모드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1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이 정상 동작하는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기준 출력은 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Exp 100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임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endParaRPr lang="en-US" altLang="ko-KR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Group Number = 3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인 조건에서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AF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신호가 정상 출력되는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위 테스트 예시 조건에서 노출 조건이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3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개인 경우이며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,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테스트 방식 동일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endParaRPr lang="ko-KR" altLang="en-US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FBEFA-295A-BE0C-6A57-290A730D3799}"/>
              </a:ext>
            </a:extLst>
          </p:cNvPr>
          <p:cNvSpPr txBox="1"/>
          <p:nvPr/>
        </p:nvSpPr>
        <p:spPr>
          <a:xfrm>
            <a:off x="4310163" y="1596569"/>
            <a:ext cx="3218397" cy="2857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Group Number = 2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인 조건에서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AF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신호가 정상 출력되는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1-1)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 테스트 예시 조건에서 노출 조건이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2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개인 경우이며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,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출력모드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2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조건대로 동작하는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Group Number = 3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인 조건에서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AF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신호가 정상 출력되는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위 테스트 예시 조건에서 노출 조건이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3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개인 경우이며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,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출력모드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2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조건대로 동작하는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endParaRPr lang="ko-KR" altLang="en-US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50A566-62BD-65B9-02B4-1A9816CAAC36}"/>
              </a:ext>
            </a:extLst>
          </p:cNvPr>
          <p:cNvSpPr txBox="1"/>
          <p:nvPr/>
        </p:nvSpPr>
        <p:spPr>
          <a:xfrm>
            <a:off x="8347167" y="1596569"/>
            <a:ext cx="3218397" cy="3364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Group Number = 2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인 조건에서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AF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신호가 정상 출력되는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1-1) Averaging Threshold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가 정상 동작하며 출력모드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3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이 동작하는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endParaRPr lang="en-US" altLang="ko-KR" sz="1100" dirty="0"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Group Number = 3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인 조건에서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AF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신호가 정상 출력되는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 </a:t>
            </a: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b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</a:b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위 테스트 예시 조건에서 노출 조건이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3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개인 경우이며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,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출력모드 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3 </a:t>
            </a:r>
            <a:r>
              <a:rPr lang="ko-KR" altLang="en-US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조건대로 동작하는 지 확인</a:t>
            </a:r>
            <a:r>
              <a:rPr lang="en-US" altLang="ko-KR" sz="11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endParaRPr lang="ko-KR" altLang="en-US" sz="11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13" name="텍스트 개체 틀 1">
            <a:extLst>
              <a:ext uri="{FF2B5EF4-FFF2-40B4-BE49-F238E27FC236}">
                <a16:creationId xmlns:a16="http://schemas.microsoft.com/office/drawing/2014/main" id="{8E37E929-26CA-5A02-4FE6-4E352674F4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8541" y="339725"/>
            <a:ext cx="9211156" cy="473075"/>
          </a:xfrm>
        </p:spPr>
        <p:txBody>
          <a:bodyPr/>
          <a:lstStyle/>
          <a:p>
            <a:r>
              <a:rPr lang="ko-KR" altLang="en-US" dirty="0"/>
              <a:t>검증 과정 및 결과</a:t>
            </a:r>
          </a:p>
        </p:txBody>
      </p:sp>
    </p:spTree>
    <p:extLst>
      <p:ext uri="{BB962C8B-B14F-4D97-AF65-F5344CB8AC3E}">
        <p14:creationId xmlns:p14="http://schemas.microsoft.com/office/powerpoint/2010/main" val="1739527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32EB8-DC31-6C3F-B897-293EBB20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EF0CC260-1315-1C1D-7993-BE6CA6E06076}"/>
              </a:ext>
            </a:extLst>
          </p:cNvPr>
          <p:cNvSpPr/>
          <p:nvPr/>
        </p:nvSpPr>
        <p:spPr>
          <a:xfrm>
            <a:off x="4880950" y="2322236"/>
            <a:ext cx="681178" cy="2119745"/>
          </a:xfrm>
          <a:prstGeom prst="rect">
            <a:avLst/>
          </a:prstGeom>
          <a:solidFill>
            <a:srgbClr val="156082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8FB7860-44E2-673A-F8F6-9809C7F9E471}"/>
              </a:ext>
            </a:extLst>
          </p:cNvPr>
          <p:cNvSpPr/>
          <p:nvPr/>
        </p:nvSpPr>
        <p:spPr>
          <a:xfrm>
            <a:off x="2914806" y="2322236"/>
            <a:ext cx="681178" cy="2119745"/>
          </a:xfrm>
          <a:prstGeom prst="rect">
            <a:avLst/>
          </a:prstGeom>
          <a:solidFill>
            <a:srgbClr val="156082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292AB5-0330-16ED-C478-265DF9016C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 lnSpcReduction="10000"/>
          </a:bodyPr>
          <a:lstStyle/>
          <a:p>
            <a:r>
              <a:rPr lang="ko-KR" altLang="en-US" dirty="0"/>
              <a:t>출력모드 기능 설명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50366C-E8BC-2559-826C-70A6ACB42340}"/>
              </a:ext>
            </a:extLst>
          </p:cNvPr>
          <p:cNvSpPr txBox="1"/>
          <p:nvPr/>
        </p:nvSpPr>
        <p:spPr>
          <a:xfrm>
            <a:off x="578541" y="1006876"/>
            <a:ext cx="4117441" cy="419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ko-KR" altLang="en-US" sz="16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 모드 </a:t>
            </a:r>
            <a:r>
              <a:rPr lang="en-US" altLang="ko-KR" sz="16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1 – Using Single Sample</a:t>
            </a:r>
            <a:endParaRPr lang="ko-KR" altLang="en-US" sz="16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331BFEB-013C-D230-FF38-70552F8C4C51}"/>
              </a:ext>
            </a:extLst>
          </p:cNvPr>
          <p:cNvCxnSpPr/>
          <p:nvPr/>
        </p:nvCxnSpPr>
        <p:spPr>
          <a:xfrm>
            <a:off x="1315754" y="2700927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1FCEDD96-2C4A-9DAA-C100-F1CDE84B4559}"/>
              </a:ext>
            </a:extLst>
          </p:cNvPr>
          <p:cNvCxnSpPr/>
          <p:nvPr/>
        </p:nvCxnSpPr>
        <p:spPr>
          <a:xfrm>
            <a:off x="1935742" y="2719399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929F89F7-4A8A-C127-BDA3-E9A21133CA1E}"/>
              </a:ext>
            </a:extLst>
          </p:cNvPr>
          <p:cNvCxnSpPr/>
          <p:nvPr/>
        </p:nvCxnSpPr>
        <p:spPr>
          <a:xfrm>
            <a:off x="2529179" y="2719399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8627C6EF-F4B9-E12E-68BF-C51688F62B96}"/>
              </a:ext>
            </a:extLst>
          </p:cNvPr>
          <p:cNvSpPr/>
          <p:nvPr/>
        </p:nvSpPr>
        <p:spPr>
          <a:xfrm>
            <a:off x="1032891" y="3624563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88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7703E91B-3B3F-CF88-7ACD-65FCDC695701}"/>
              </a:ext>
            </a:extLst>
          </p:cNvPr>
          <p:cNvSpPr/>
          <p:nvPr/>
        </p:nvSpPr>
        <p:spPr>
          <a:xfrm>
            <a:off x="1644804" y="3624562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172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E15D38F-F9D7-6B14-493C-A79D35B4BE8F}"/>
              </a:ext>
            </a:extLst>
          </p:cNvPr>
          <p:cNvSpPr/>
          <p:nvPr/>
        </p:nvSpPr>
        <p:spPr>
          <a:xfrm>
            <a:off x="2274016" y="3624561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225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DF67A800-5DC2-D8DA-30A7-3CC55579E0D3}"/>
              </a:ext>
            </a:extLst>
          </p:cNvPr>
          <p:cNvSpPr/>
          <p:nvPr/>
        </p:nvSpPr>
        <p:spPr>
          <a:xfrm>
            <a:off x="1217616" y="2506963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4EED2981-0FF4-B22D-A063-C8AE9D665C60}"/>
              </a:ext>
            </a:extLst>
          </p:cNvPr>
          <p:cNvSpPr/>
          <p:nvPr/>
        </p:nvSpPr>
        <p:spPr>
          <a:xfrm>
            <a:off x="1824908" y="2493108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81F36E4B-BC39-18D9-9297-0513E1C83AC6}"/>
              </a:ext>
            </a:extLst>
          </p:cNvPr>
          <p:cNvSpPr/>
          <p:nvPr/>
        </p:nvSpPr>
        <p:spPr>
          <a:xfrm>
            <a:off x="2418345" y="2493107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3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BA51AF82-901E-02FB-620A-E6D247A3F08E}"/>
              </a:ext>
            </a:extLst>
          </p:cNvPr>
          <p:cNvCxnSpPr/>
          <p:nvPr/>
        </p:nvCxnSpPr>
        <p:spPr>
          <a:xfrm>
            <a:off x="3235753" y="2700925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189F32C-A4FD-C5D5-4C1F-D2BEF2A0B689}"/>
              </a:ext>
            </a:extLst>
          </p:cNvPr>
          <p:cNvCxnSpPr/>
          <p:nvPr/>
        </p:nvCxnSpPr>
        <p:spPr>
          <a:xfrm>
            <a:off x="3855741" y="2719397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06A0605D-A742-0CCC-D4C6-716DF9C97C3A}"/>
              </a:ext>
            </a:extLst>
          </p:cNvPr>
          <p:cNvCxnSpPr/>
          <p:nvPr/>
        </p:nvCxnSpPr>
        <p:spPr>
          <a:xfrm>
            <a:off x="4449178" y="2719397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4A4C657-5D22-8316-4BAE-F32BE7F32A13}"/>
              </a:ext>
            </a:extLst>
          </p:cNvPr>
          <p:cNvSpPr/>
          <p:nvPr/>
        </p:nvSpPr>
        <p:spPr>
          <a:xfrm>
            <a:off x="2952890" y="3624561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92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41013F0A-FA31-6264-DF71-CAC0F4E628A0}"/>
              </a:ext>
            </a:extLst>
          </p:cNvPr>
          <p:cNvSpPr/>
          <p:nvPr/>
        </p:nvSpPr>
        <p:spPr>
          <a:xfrm>
            <a:off x="3564803" y="3624560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174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288BDFD3-A6A8-BF6E-9D67-45C2AD770ED7}"/>
              </a:ext>
            </a:extLst>
          </p:cNvPr>
          <p:cNvSpPr/>
          <p:nvPr/>
        </p:nvSpPr>
        <p:spPr>
          <a:xfrm>
            <a:off x="4194015" y="3624559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219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7B4D3386-25E0-EBA3-2007-A98F1B11D2FE}"/>
              </a:ext>
            </a:extLst>
          </p:cNvPr>
          <p:cNvSpPr/>
          <p:nvPr/>
        </p:nvSpPr>
        <p:spPr>
          <a:xfrm>
            <a:off x="3137615" y="2506961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4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88CD5D02-DDD3-CB5E-BF52-68B2D475DEDF}"/>
              </a:ext>
            </a:extLst>
          </p:cNvPr>
          <p:cNvSpPr/>
          <p:nvPr/>
        </p:nvSpPr>
        <p:spPr>
          <a:xfrm>
            <a:off x="3744907" y="2493106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5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3787D704-5BAF-F9EF-29BA-CE27CB8BF0AD}"/>
              </a:ext>
            </a:extLst>
          </p:cNvPr>
          <p:cNvSpPr/>
          <p:nvPr/>
        </p:nvSpPr>
        <p:spPr>
          <a:xfrm>
            <a:off x="4338344" y="2493105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6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2" name="오른쪽 중괄호 141">
            <a:extLst>
              <a:ext uri="{FF2B5EF4-FFF2-40B4-BE49-F238E27FC236}">
                <a16:creationId xmlns:a16="http://schemas.microsoft.com/office/drawing/2014/main" id="{33ED9547-B26B-293A-E5C6-615BD785AB3D}"/>
              </a:ext>
            </a:extLst>
          </p:cNvPr>
          <p:cNvSpPr/>
          <p:nvPr/>
        </p:nvSpPr>
        <p:spPr>
          <a:xfrm rot="5400000">
            <a:off x="2433644" y="3599449"/>
            <a:ext cx="336554" cy="1348509"/>
          </a:xfrm>
          <a:prstGeom prst="rightBrac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5D08A3C-436C-9CAA-08C9-415CCA4D4137}"/>
              </a:ext>
            </a:extLst>
          </p:cNvPr>
          <p:cNvCxnSpPr/>
          <p:nvPr/>
        </p:nvCxnSpPr>
        <p:spPr>
          <a:xfrm>
            <a:off x="5163834" y="2692258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0BD4FE36-6E3A-E734-C219-DF09ACB9E6C3}"/>
              </a:ext>
            </a:extLst>
          </p:cNvPr>
          <p:cNvCxnSpPr/>
          <p:nvPr/>
        </p:nvCxnSpPr>
        <p:spPr>
          <a:xfrm>
            <a:off x="5783822" y="2710730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B836B769-64AD-363B-1FB8-23E4268ECE9B}"/>
              </a:ext>
            </a:extLst>
          </p:cNvPr>
          <p:cNvCxnSpPr/>
          <p:nvPr/>
        </p:nvCxnSpPr>
        <p:spPr>
          <a:xfrm>
            <a:off x="6377259" y="2710730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44A31734-CD65-45CF-82EC-21DF3381468E}"/>
              </a:ext>
            </a:extLst>
          </p:cNvPr>
          <p:cNvSpPr/>
          <p:nvPr/>
        </p:nvSpPr>
        <p:spPr>
          <a:xfrm>
            <a:off x="4880971" y="3615894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84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038A234C-C62F-BB14-261D-1BE330DF8A29}"/>
              </a:ext>
            </a:extLst>
          </p:cNvPr>
          <p:cNvSpPr/>
          <p:nvPr/>
        </p:nvSpPr>
        <p:spPr>
          <a:xfrm>
            <a:off x="5492884" y="3615893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170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F2EDA286-273E-472C-F645-3F4EB0704765}"/>
              </a:ext>
            </a:extLst>
          </p:cNvPr>
          <p:cNvSpPr/>
          <p:nvPr/>
        </p:nvSpPr>
        <p:spPr>
          <a:xfrm>
            <a:off x="6122096" y="3615892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224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0901D8B7-53CE-F4FF-3245-2C6F90B02137}"/>
              </a:ext>
            </a:extLst>
          </p:cNvPr>
          <p:cNvSpPr/>
          <p:nvPr/>
        </p:nvSpPr>
        <p:spPr>
          <a:xfrm>
            <a:off x="5065696" y="2498294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7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96807F77-8ED0-FFE1-2312-31994920EE20}"/>
              </a:ext>
            </a:extLst>
          </p:cNvPr>
          <p:cNvSpPr/>
          <p:nvPr/>
        </p:nvSpPr>
        <p:spPr>
          <a:xfrm>
            <a:off x="5672988" y="2484439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1317F525-D0F6-C111-82D5-B377B8AC7E67}"/>
              </a:ext>
            </a:extLst>
          </p:cNvPr>
          <p:cNvSpPr/>
          <p:nvPr/>
        </p:nvSpPr>
        <p:spPr>
          <a:xfrm>
            <a:off x="6266425" y="2484438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9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4" name="오른쪽 중괄호 153">
            <a:extLst>
              <a:ext uri="{FF2B5EF4-FFF2-40B4-BE49-F238E27FC236}">
                <a16:creationId xmlns:a16="http://schemas.microsoft.com/office/drawing/2014/main" id="{CCF2A9C3-AD29-CFDB-90FB-F4B047E04360}"/>
              </a:ext>
            </a:extLst>
          </p:cNvPr>
          <p:cNvSpPr/>
          <p:nvPr/>
        </p:nvSpPr>
        <p:spPr>
          <a:xfrm rot="5400000">
            <a:off x="4308601" y="3585593"/>
            <a:ext cx="336554" cy="1348509"/>
          </a:xfrm>
          <a:prstGeom prst="rightBrac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9F113876-4AB4-BC8A-671C-F5A90BBD3864}"/>
              </a:ext>
            </a:extLst>
          </p:cNvPr>
          <p:cNvCxnSpPr>
            <a:cxnSpLocks/>
            <a:stCxn id="143" idx="2"/>
          </p:cNvCxnSpPr>
          <p:nvPr/>
        </p:nvCxnSpPr>
        <p:spPr>
          <a:xfrm>
            <a:off x="3255395" y="4441981"/>
            <a:ext cx="0" cy="22767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ECB2CF6D-21FA-17EF-2425-FCD100746F3A}"/>
              </a:ext>
            </a:extLst>
          </p:cNvPr>
          <p:cNvCxnSpPr>
            <a:cxnSpLocks/>
          </p:cNvCxnSpPr>
          <p:nvPr/>
        </p:nvCxnSpPr>
        <p:spPr>
          <a:xfrm>
            <a:off x="5221539" y="4428125"/>
            <a:ext cx="0" cy="241529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F5C9CB03-68B8-6D96-F022-8B5E2A48E955}"/>
              </a:ext>
            </a:extLst>
          </p:cNvPr>
          <p:cNvSpPr/>
          <p:nvPr/>
        </p:nvSpPr>
        <p:spPr>
          <a:xfrm>
            <a:off x="957846" y="2361777"/>
            <a:ext cx="681178" cy="2119745"/>
          </a:xfrm>
          <a:prstGeom prst="rect">
            <a:avLst/>
          </a:prstGeom>
          <a:solidFill>
            <a:srgbClr val="156082">
              <a:alpha val="0"/>
            </a:srgbClr>
          </a:solidFill>
          <a:ln w="19050" cap="flat" cmpd="sng" algn="ctr">
            <a:solidFill>
              <a:srgbClr val="92D05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0D48AE0-448E-4120-8A62-1F14D1D74C3F}"/>
              </a:ext>
            </a:extLst>
          </p:cNvPr>
          <p:cNvSpPr/>
          <p:nvPr/>
        </p:nvSpPr>
        <p:spPr>
          <a:xfrm>
            <a:off x="755236" y="1956675"/>
            <a:ext cx="1086398" cy="332509"/>
          </a:xfrm>
          <a:prstGeom prst="rect">
            <a:avLst/>
          </a:prstGeom>
          <a:solidFill>
            <a:srgbClr val="C00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기준 출력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7FA16B7-C457-0BB5-9DA2-94231B8DAAD0}"/>
              </a:ext>
            </a:extLst>
          </p:cNvPr>
          <p:cNvSpPr txBox="1"/>
          <p:nvPr/>
        </p:nvSpPr>
        <p:spPr>
          <a:xfrm>
            <a:off x="2556881" y="5083909"/>
            <a:ext cx="19199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Multi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계산 로직에 의한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첫번째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신호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dirty="0">
              <a:solidFill>
                <a:prstClr val="black"/>
              </a:solidFill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172,225,92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중에서 기준 출력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88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과 가까운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4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번째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 </a:t>
            </a:r>
            <a:r>
              <a:rPr lang="en-US" altLang="ko-KR" sz="1200" b="1" kern="0" dirty="0">
                <a:solidFill>
                  <a:srgbClr val="FF0000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92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을 출력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3352082-9BB8-5254-9755-6E153A878E4F}"/>
              </a:ext>
            </a:extLst>
          </p:cNvPr>
          <p:cNvSpPr txBox="1"/>
          <p:nvPr/>
        </p:nvSpPr>
        <p:spPr>
          <a:xfrm>
            <a:off x="4618889" y="5097764"/>
            <a:ext cx="22883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Multi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계산 로직에 의한 두번째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dirty="0">
              <a:solidFill>
                <a:prstClr val="black"/>
              </a:solidFill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174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,219,84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중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이전 출력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신호값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92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와 가장 가까운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84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를 출력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F9812505-AC16-EEEC-04D8-2A7E84483A0D}"/>
              </a:ext>
            </a:extLst>
          </p:cNvPr>
          <p:cNvCxnSpPr>
            <a:cxnSpLocks/>
          </p:cNvCxnSpPr>
          <p:nvPr/>
        </p:nvCxnSpPr>
        <p:spPr>
          <a:xfrm>
            <a:off x="1292470" y="4481522"/>
            <a:ext cx="0" cy="641928"/>
          </a:xfrm>
          <a:prstGeom prst="straightConnector1">
            <a:avLst/>
          </a:prstGeom>
          <a:noFill/>
          <a:ln w="19050" cap="flat" cmpd="sng" algn="ctr">
            <a:solidFill>
              <a:srgbClr val="92D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7F3B5E8D-F534-63F3-1819-87A9F4FE8EB6}"/>
              </a:ext>
            </a:extLst>
          </p:cNvPr>
          <p:cNvSpPr txBox="1"/>
          <p:nvPr/>
        </p:nvSpPr>
        <p:spPr>
          <a:xfrm>
            <a:off x="507784" y="5150015"/>
            <a:ext cx="2021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첫 신호 </a:t>
            </a:r>
            <a:r>
              <a:rPr kumimoji="0" lang="ko-KR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획득시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출력된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kumimoji="0" lang="ko-KR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신호값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(88)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을 기준으로 정의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dirty="0">
              <a:solidFill>
                <a:prstClr val="black"/>
              </a:solidFill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 err="1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MultiExposure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ko-KR" altLang="en-US" sz="1200" kern="0" dirty="0" err="1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신호출력로직에서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이 기준 </a:t>
            </a:r>
            <a:r>
              <a:rPr lang="ko-KR" altLang="en-US" sz="1200" kern="0" dirty="0" err="1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출력값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- 88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과 가까운 값을 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최종 신호로 출력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18295AB-2962-AE82-F5CE-5AE27242AC02}"/>
              </a:ext>
            </a:extLst>
          </p:cNvPr>
          <p:cNvSpPr txBox="1"/>
          <p:nvPr/>
        </p:nvSpPr>
        <p:spPr>
          <a:xfrm>
            <a:off x="8460671" y="1580486"/>
            <a:ext cx="454534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[</a:t>
            </a:r>
            <a:r>
              <a:rPr lang="ko-KR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조건</a:t>
            </a:r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 </a:t>
            </a:r>
            <a:r>
              <a:rPr lang="ko-KR" altLang="en-US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예시</a:t>
            </a:r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]</a:t>
            </a:r>
            <a:endParaRPr lang="ko-KR" altLang="ko-KR" sz="2000" b="1" dirty="0">
              <a:effectLst/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r>
              <a:rPr lang="en-US" altLang="ko-KR" sz="18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 </a:t>
            </a:r>
            <a:endParaRPr lang="ko-KR" altLang="ko-KR" sz="20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Group = 3 (3</a:t>
            </a:r>
            <a:r>
              <a:rPr lang="ko-KR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개의 노출 조건 사용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)</a:t>
            </a: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1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:1us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약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84 ~ 92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2 </a:t>
            </a:r>
            <a:endParaRPr lang="en-US" altLang="ko-KR" sz="1600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80us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ko-KR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170 ~ 178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3 </a:t>
            </a:r>
          </a:p>
          <a:p>
            <a:r>
              <a:rPr lang="ko-KR" altLang="en-US" sz="16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en-US" altLang="ko-KR" sz="16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160us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218 ~ 226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Camera FPS : 2121Hz (707Hz * 3)</a:t>
            </a:r>
            <a:endParaRPr lang="ko-KR" altLang="ko-KR" sz="20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0EA07F35-CF08-C2B3-8725-6BEC34CE53B6}"/>
              </a:ext>
            </a:extLst>
          </p:cNvPr>
          <p:cNvSpPr/>
          <p:nvPr/>
        </p:nvSpPr>
        <p:spPr>
          <a:xfrm>
            <a:off x="2839742" y="4766925"/>
            <a:ext cx="861714" cy="219713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92 </a:t>
            </a:r>
            <a:r>
              <a:rPr lang="ko-KR" altLang="en-US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25B47DAC-381F-2758-9D13-60020CE72562}"/>
              </a:ext>
            </a:extLst>
          </p:cNvPr>
          <p:cNvSpPr/>
          <p:nvPr/>
        </p:nvSpPr>
        <p:spPr>
          <a:xfrm>
            <a:off x="4811274" y="4760234"/>
            <a:ext cx="861714" cy="219713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84 </a:t>
            </a:r>
            <a:r>
              <a:rPr lang="ko-KR" altLang="en-US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1832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B100C-C6B8-C313-CE13-54405E01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6499C8D9-2255-A46C-94EF-50B47D907E93}"/>
              </a:ext>
            </a:extLst>
          </p:cNvPr>
          <p:cNvSpPr/>
          <p:nvPr/>
        </p:nvSpPr>
        <p:spPr>
          <a:xfrm>
            <a:off x="4863020" y="2322236"/>
            <a:ext cx="588831" cy="2105889"/>
          </a:xfrm>
          <a:prstGeom prst="rect">
            <a:avLst/>
          </a:prstGeom>
          <a:solidFill>
            <a:srgbClr val="156082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6A9F03BE-DC31-072A-747D-4BEE11EB33EE}"/>
              </a:ext>
            </a:extLst>
          </p:cNvPr>
          <p:cNvSpPr/>
          <p:nvPr/>
        </p:nvSpPr>
        <p:spPr>
          <a:xfrm>
            <a:off x="2888638" y="2321962"/>
            <a:ext cx="626484" cy="2119745"/>
          </a:xfrm>
          <a:prstGeom prst="rect">
            <a:avLst/>
          </a:prstGeom>
          <a:solidFill>
            <a:srgbClr val="156082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3B7516-B4E0-CBA1-E0CB-6A6E4A919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 lnSpcReduction="10000"/>
          </a:bodyPr>
          <a:lstStyle/>
          <a:p>
            <a:r>
              <a:rPr lang="ko-KR" altLang="en-US" dirty="0"/>
              <a:t>출력모드 기능 설명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1D6B6B5-A9C2-0519-338A-C0E1652B6A0C}"/>
              </a:ext>
            </a:extLst>
          </p:cNvPr>
          <p:cNvSpPr txBox="1"/>
          <p:nvPr/>
        </p:nvSpPr>
        <p:spPr>
          <a:xfrm>
            <a:off x="578541" y="1006876"/>
            <a:ext cx="4117441" cy="419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ko-KR" altLang="en-US" sz="16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 모드 </a:t>
            </a:r>
            <a:r>
              <a:rPr lang="en-US" altLang="ko-KR" sz="16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2 – Using Two Sample</a:t>
            </a:r>
            <a:endParaRPr lang="ko-KR" altLang="en-US" sz="16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0B140B4-662E-6930-E365-191DD56F1695}"/>
              </a:ext>
            </a:extLst>
          </p:cNvPr>
          <p:cNvCxnSpPr/>
          <p:nvPr/>
        </p:nvCxnSpPr>
        <p:spPr>
          <a:xfrm>
            <a:off x="1315754" y="2700927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3F94753-825F-4BDC-750C-5F4E63FA0D9F}"/>
              </a:ext>
            </a:extLst>
          </p:cNvPr>
          <p:cNvCxnSpPr/>
          <p:nvPr/>
        </p:nvCxnSpPr>
        <p:spPr>
          <a:xfrm>
            <a:off x="1935742" y="2719399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94E3AF87-F757-DD4E-FEA8-758B5D561F2E}"/>
              </a:ext>
            </a:extLst>
          </p:cNvPr>
          <p:cNvCxnSpPr/>
          <p:nvPr/>
        </p:nvCxnSpPr>
        <p:spPr>
          <a:xfrm>
            <a:off x="2529179" y="2719399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49AFDBD5-18B3-9B5F-89B3-B6AB7A3E5513}"/>
              </a:ext>
            </a:extLst>
          </p:cNvPr>
          <p:cNvSpPr/>
          <p:nvPr/>
        </p:nvSpPr>
        <p:spPr>
          <a:xfrm>
            <a:off x="1032891" y="3624563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88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01C8AB62-E2EE-FF30-B4F7-D06374F5CA9C}"/>
              </a:ext>
            </a:extLst>
          </p:cNvPr>
          <p:cNvSpPr/>
          <p:nvPr/>
        </p:nvSpPr>
        <p:spPr>
          <a:xfrm>
            <a:off x="1644804" y="3624562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172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E40A4DF8-B210-6A2B-C87A-0B25D752C15A}"/>
              </a:ext>
            </a:extLst>
          </p:cNvPr>
          <p:cNvSpPr/>
          <p:nvPr/>
        </p:nvSpPr>
        <p:spPr>
          <a:xfrm>
            <a:off x="2274016" y="3624561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225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F675A307-E94C-4F2B-CEFC-0BD3719C0005}"/>
              </a:ext>
            </a:extLst>
          </p:cNvPr>
          <p:cNvSpPr/>
          <p:nvPr/>
        </p:nvSpPr>
        <p:spPr>
          <a:xfrm>
            <a:off x="1217616" y="2506963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E310D602-35A4-9062-1EA1-40D29BD750AA}"/>
              </a:ext>
            </a:extLst>
          </p:cNvPr>
          <p:cNvSpPr/>
          <p:nvPr/>
        </p:nvSpPr>
        <p:spPr>
          <a:xfrm>
            <a:off x="1824908" y="2493108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71FB086D-8376-F66B-4A5D-83448D821C6D}"/>
              </a:ext>
            </a:extLst>
          </p:cNvPr>
          <p:cNvSpPr/>
          <p:nvPr/>
        </p:nvSpPr>
        <p:spPr>
          <a:xfrm>
            <a:off x="2418345" y="2493107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3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57DC3E32-F844-2F47-41EF-FE0C18C07447}"/>
              </a:ext>
            </a:extLst>
          </p:cNvPr>
          <p:cNvCxnSpPr/>
          <p:nvPr/>
        </p:nvCxnSpPr>
        <p:spPr>
          <a:xfrm>
            <a:off x="3235753" y="2700925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C530BFF-651E-7393-25CE-CE2C32224CF1}"/>
              </a:ext>
            </a:extLst>
          </p:cNvPr>
          <p:cNvCxnSpPr/>
          <p:nvPr/>
        </p:nvCxnSpPr>
        <p:spPr>
          <a:xfrm>
            <a:off x="3855741" y="2719397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1D09F603-7513-D27A-E899-C4E14804901C}"/>
              </a:ext>
            </a:extLst>
          </p:cNvPr>
          <p:cNvCxnSpPr/>
          <p:nvPr/>
        </p:nvCxnSpPr>
        <p:spPr>
          <a:xfrm>
            <a:off x="4449178" y="2719397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EB49826-A019-C49B-67BE-B505B1341B05}"/>
              </a:ext>
            </a:extLst>
          </p:cNvPr>
          <p:cNvSpPr/>
          <p:nvPr/>
        </p:nvSpPr>
        <p:spPr>
          <a:xfrm>
            <a:off x="2952890" y="3624561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92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C2B32379-0727-1A39-0D72-5C6DDBED0DCB}"/>
              </a:ext>
            </a:extLst>
          </p:cNvPr>
          <p:cNvSpPr/>
          <p:nvPr/>
        </p:nvSpPr>
        <p:spPr>
          <a:xfrm>
            <a:off x="3564803" y="3624560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174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224C7680-55DD-D74D-31B4-8D3738077810}"/>
              </a:ext>
            </a:extLst>
          </p:cNvPr>
          <p:cNvSpPr/>
          <p:nvPr/>
        </p:nvSpPr>
        <p:spPr>
          <a:xfrm>
            <a:off x="4194015" y="3624559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219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46C7D197-0A5E-53D9-E2CC-D1B68840B070}"/>
              </a:ext>
            </a:extLst>
          </p:cNvPr>
          <p:cNvSpPr/>
          <p:nvPr/>
        </p:nvSpPr>
        <p:spPr>
          <a:xfrm>
            <a:off x="3137615" y="2506961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4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4DC0DC6F-9AB8-9AEB-39BE-F2A5757D159C}"/>
              </a:ext>
            </a:extLst>
          </p:cNvPr>
          <p:cNvSpPr/>
          <p:nvPr/>
        </p:nvSpPr>
        <p:spPr>
          <a:xfrm>
            <a:off x="3744907" y="2493106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5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7730BC17-7B0D-A0A7-AFAD-7FE1B882AC4C}"/>
              </a:ext>
            </a:extLst>
          </p:cNvPr>
          <p:cNvSpPr/>
          <p:nvPr/>
        </p:nvSpPr>
        <p:spPr>
          <a:xfrm>
            <a:off x="4338344" y="2493105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6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2" name="오른쪽 중괄호 141">
            <a:extLst>
              <a:ext uri="{FF2B5EF4-FFF2-40B4-BE49-F238E27FC236}">
                <a16:creationId xmlns:a16="http://schemas.microsoft.com/office/drawing/2014/main" id="{EF80C2BC-0DB9-65C4-5964-04FDCF43FAC5}"/>
              </a:ext>
            </a:extLst>
          </p:cNvPr>
          <p:cNvSpPr/>
          <p:nvPr/>
        </p:nvSpPr>
        <p:spPr>
          <a:xfrm rot="5400000">
            <a:off x="2433644" y="3599449"/>
            <a:ext cx="336554" cy="1348509"/>
          </a:xfrm>
          <a:prstGeom prst="rightBrac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3358713-50C5-5D05-36FB-030CBCBF19EF}"/>
              </a:ext>
            </a:extLst>
          </p:cNvPr>
          <p:cNvCxnSpPr/>
          <p:nvPr/>
        </p:nvCxnSpPr>
        <p:spPr>
          <a:xfrm>
            <a:off x="5163834" y="2692258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F570977B-B8BF-3E15-D02A-B1BB019033CB}"/>
              </a:ext>
            </a:extLst>
          </p:cNvPr>
          <p:cNvCxnSpPr/>
          <p:nvPr/>
        </p:nvCxnSpPr>
        <p:spPr>
          <a:xfrm>
            <a:off x="5783822" y="2710730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089C4EC6-0250-9CCE-18A7-60580B0ECF85}"/>
              </a:ext>
            </a:extLst>
          </p:cNvPr>
          <p:cNvCxnSpPr/>
          <p:nvPr/>
        </p:nvCxnSpPr>
        <p:spPr>
          <a:xfrm>
            <a:off x="6377259" y="2710730"/>
            <a:ext cx="0" cy="92363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00CD176-0874-B220-0090-F52E5E52C936}"/>
              </a:ext>
            </a:extLst>
          </p:cNvPr>
          <p:cNvSpPr/>
          <p:nvPr/>
        </p:nvSpPr>
        <p:spPr>
          <a:xfrm>
            <a:off x="4880971" y="3615894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84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251AC643-3647-DE5D-E456-F91C9C3043C7}"/>
              </a:ext>
            </a:extLst>
          </p:cNvPr>
          <p:cNvSpPr/>
          <p:nvPr/>
        </p:nvSpPr>
        <p:spPr>
          <a:xfrm>
            <a:off x="5492884" y="3615893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170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6D32664-FB56-C4F5-A059-C289ED432CD0}"/>
              </a:ext>
            </a:extLst>
          </p:cNvPr>
          <p:cNvSpPr/>
          <p:nvPr/>
        </p:nvSpPr>
        <p:spPr>
          <a:xfrm>
            <a:off x="6122096" y="3615892"/>
            <a:ext cx="565726" cy="332509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224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60BC034B-0C64-7CDE-96A6-C95ECC91F432}"/>
              </a:ext>
            </a:extLst>
          </p:cNvPr>
          <p:cNvSpPr/>
          <p:nvPr/>
        </p:nvSpPr>
        <p:spPr>
          <a:xfrm>
            <a:off x="5065696" y="2498294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7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E816E121-D953-4BF7-3CDB-EBEFBF16EFD9}"/>
              </a:ext>
            </a:extLst>
          </p:cNvPr>
          <p:cNvSpPr/>
          <p:nvPr/>
        </p:nvSpPr>
        <p:spPr>
          <a:xfrm>
            <a:off x="5672988" y="2484439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77077310-83F5-706D-A6D4-2C27812894D6}"/>
              </a:ext>
            </a:extLst>
          </p:cNvPr>
          <p:cNvSpPr/>
          <p:nvPr/>
        </p:nvSpPr>
        <p:spPr>
          <a:xfrm>
            <a:off x="6266425" y="2484438"/>
            <a:ext cx="221668" cy="332509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9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4" name="오른쪽 중괄호 153">
            <a:extLst>
              <a:ext uri="{FF2B5EF4-FFF2-40B4-BE49-F238E27FC236}">
                <a16:creationId xmlns:a16="http://schemas.microsoft.com/office/drawing/2014/main" id="{98D296A9-3F55-EBDF-0D3D-645E30620E18}"/>
              </a:ext>
            </a:extLst>
          </p:cNvPr>
          <p:cNvSpPr/>
          <p:nvPr/>
        </p:nvSpPr>
        <p:spPr>
          <a:xfrm rot="5400000">
            <a:off x="4308601" y="3585593"/>
            <a:ext cx="336554" cy="1348509"/>
          </a:xfrm>
          <a:prstGeom prst="rightBrac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B9E242CC-6FE9-CAA5-611B-6B75075C6858}"/>
              </a:ext>
            </a:extLst>
          </p:cNvPr>
          <p:cNvCxnSpPr>
            <a:cxnSpLocks/>
            <a:stCxn id="143" idx="2"/>
          </p:cNvCxnSpPr>
          <p:nvPr/>
        </p:nvCxnSpPr>
        <p:spPr>
          <a:xfrm>
            <a:off x="3201880" y="4441707"/>
            <a:ext cx="7705" cy="360505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1FA6B2C4-2A7C-88F7-BA91-9F30FE20FB34}"/>
              </a:ext>
            </a:extLst>
          </p:cNvPr>
          <p:cNvCxnSpPr>
            <a:cxnSpLocks/>
          </p:cNvCxnSpPr>
          <p:nvPr/>
        </p:nvCxnSpPr>
        <p:spPr>
          <a:xfrm>
            <a:off x="5221539" y="4428125"/>
            <a:ext cx="0" cy="37436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FAD51A96-F490-1B9C-08B1-1219C4185398}"/>
              </a:ext>
            </a:extLst>
          </p:cNvPr>
          <p:cNvSpPr/>
          <p:nvPr/>
        </p:nvSpPr>
        <p:spPr>
          <a:xfrm>
            <a:off x="957846" y="2361777"/>
            <a:ext cx="681178" cy="2119745"/>
          </a:xfrm>
          <a:prstGeom prst="rect">
            <a:avLst/>
          </a:prstGeom>
          <a:solidFill>
            <a:srgbClr val="156082">
              <a:alpha val="0"/>
            </a:srgbClr>
          </a:solidFill>
          <a:ln w="19050" cap="flat" cmpd="sng" algn="ctr">
            <a:solidFill>
              <a:srgbClr val="92D05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ED5B832-E4BC-9C0A-9058-7691E2FA691E}"/>
              </a:ext>
            </a:extLst>
          </p:cNvPr>
          <p:cNvSpPr/>
          <p:nvPr/>
        </p:nvSpPr>
        <p:spPr>
          <a:xfrm>
            <a:off x="755236" y="1956675"/>
            <a:ext cx="1086398" cy="332509"/>
          </a:xfrm>
          <a:prstGeom prst="rect">
            <a:avLst/>
          </a:prstGeom>
          <a:solidFill>
            <a:srgbClr val="C00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기준 출력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E76228A-387C-F9FA-FAD6-B2A31CD1404B}"/>
              </a:ext>
            </a:extLst>
          </p:cNvPr>
          <p:cNvSpPr txBox="1"/>
          <p:nvPr/>
        </p:nvSpPr>
        <p:spPr>
          <a:xfrm>
            <a:off x="2556881" y="5083909"/>
            <a:ext cx="19199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Multi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계산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번째 로직에 의한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번째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평균 신호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dirty="0">
              <a:solidFill>
                <a:prstClr val="black"/>
              </a:solidFill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172,225,92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중에서 기준 출력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88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과 가까운 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개 신고 </a:t>
            </a:r>
            <a:r>
              <a:rPr lang="en-US" altLang="ko-KR" sz="1200" b="1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92,172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의 </a:t>
            </a:r>
            <a:r>
              <a:rPr lang="ko-KR" altLang="en-US" sz="1200" b="1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평균값인 </a:t>
            </a:r>
            <a:r>
              <a:rPr lang="en-US" altLang="ko-KR" sz="1200" b="1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133</a:t>
            </a:r>
            <a:r>
              <a:rPr lang="ko-KR" altLang="en-US" sz="1200" b="1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을 출력</a:t>
            </a:r>
            <a:r>
              <a:rPr lang="en-US" altLang="ko-KR" sz="1200" b="1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41A424A-ED84-81B8-1F3A-BE08A59EC161}"/>
              </a:ext>
            </a:extLst>
          </p:cNvPr>
          <p:cNvSpPr txBox="1"/>
          <p:nvPr/>
        </p:nvSpPr>
        <p:spPr>
          <a:xfrm>
            <a:off x="4618889" y="5097764"/>
            <a:ext cx="22883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Multi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계산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번째 출력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로직에 의한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번째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dirty="0">
              <a:solidFill>
                <a:prstClr val="black"/>
              </a:solidFill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174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,219,84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중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이전 평균 출력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신호값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200" b="1" kern="0" dirty="0">
                <a:solidFill>
                  <a:srgbClr val="FF0000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133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와 가장 가까운 </a:t>
            </a:r>
            <a:r>
              <a:rPr lang="en-US" altLang="ko-KR" sz="1200" b="1" kern="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2</a:t>
            </a:r>
            <a:r>
              <a:rPr lang="ko-KR" altLang="en-US" sz="1200" b="1" kern="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개의 </a:t>
            </a:r>
            <a:r>
              <a:rPr lang="ko-KR" altLang="en-US" sz="1200" b="1" kern="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출력값</a:t>
            </a:r>
            <a:r>
              <a:rPr lang="ko-KR" altLang="en-US" sz="1200" b="1" kern="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200" b="1" kern="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84,170</a:t>
            </a:r>
            <a:r>
              <a:rPr lang="ko-KR" altLang="en-US" sz="1200" b="1" kern="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의 평균값인 </a:t>
            </a:r>
            <a:r>
              <a:rPr lang="en-US" altLang="ko-KR" sz="1200" b="1" kern="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129 </a:t>
            </a:r>
            <a:r>
              <a:rPr lang="ko-KR" altLang="en-US" sz="1200" b="1" kern="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r>
              <a:rPr lang="en-US" altLang="ko-KR" sz="1200" b="1" kern="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A12CA4DD-8A48-5AE8-F1D8-1EC79F200171}"/>
              </a:ext>
            </a:extLst>
          </p:cNvPr>
          <p:cNvCxnSpPr>
            <a:cxnSpLocks/>
          </p:cNvCxnSpPr>
          <p:nvPr/>
        </p:nvCxnSpPr>
        <p:spPr>
          <a:xfrm>
            <a:off x="1292470" y="4481522"/>
            <a:ext cx="0" cy="641928"/>
          </a:xfrm>
          <a:prstGeom prst="straightConnector1">
            <a:avLst/>
          </a:prstGeom>
          <a:noFill/>
          <a:ln w="19050" cap="flat" cmpd="sng" algn="ctr">
            <a:solidFill>
              <a:srgbClr val="92D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850904E-32A3-560F-914F-D5AF413DC84C}"/>
              </a:ext>
            </a:extLst>
          </p:cNvPr>
          <p:cNvSpPr txBox="1"/>
          <p:nvPr/>
        </p:nvSpPr>
        <p:spPr>
          <a:xfrm>
            <a:off x="507784" y="5150015"/>
            <a:ext cx="2021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첫 신호 </a:t>
            </a:r>
            <a:r>
              <a:rPr kumimoji="0" lang="ko-KR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획득시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출력된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신호값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(88)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을 기준으로 정의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dirty="0">
              <a:solidFill>
                <a:prstClr val="black"/>
              </a:solidFill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 err="1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MultiExposure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ko-KR" altLang="en-US" sz="1200" kern="0" dirty="0" err="1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신호출력로직에서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이 기준 </a:t>
            </a:r>
            <a:r>
              <a:rPr lang="ko-KR" altLang="en-US" sz="1200" kern="0" dirty="0" err="1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출력값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- 88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과 가까운 값을 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AF </a:t>
            </a:r>
            <a:r>
              <a:rPr lang="ko-KR" altLang="en-US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최종 신호로 출력</a:t>
            </a:r>
            <a:r>
              <a:rPr lang="en-US" altLang="ko-KR" sz="1200" kern="0" dirty="0">
                <a:solidFill>
                  <a:prstClr val="black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.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A53982-5088-65F9-E415-08DA59B9DB34}"/>
              </a:ext>
            </a:extLst>
          </p:cNvPr>
          <p:cNvSpPr/>
          <p:nvPr/>
        </p:nvSpPr>
        <p:spPr>
          <a:xfrm>
            <a:off x="1691497" y="2361776"/>
            <a:ext cx="527108" cy="2119745"/>
          </a:xfrm>
          <a:prstGeom prst="rect">
            <a:avLst/>
          </a:prstGeom>
          <a:solidFill>
            <a:srgbClr val="156082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EA98A4F3-34A7-CC9B-AA50-29F2601EF8F3}"/>
              </a:ext>
            </a:extLst>
          </p:cNvPr>
          <p:cNvCxnSpPr>
            <a:cxnSpLocks/>
          </p:cNvCxnSpPr>
          <p:nvPr/>
        </p:nvCxnSpPr>
        <p:spPr>
          <a:xfrm>
            <a:off x="1936550" y="4511494"/>
            <a:ext cx="747735" cy="26946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A23600-9CC4-5E9B-9F36-B1A31FD57B3E}"/>
              </a:ext>
            </a:extLst>
          </p:cNvPr>
          <p:cNvSpPr/>
          <p:nvPr/>
        </p:nvSpPr>
        <p:spPr>
          <a:xfrm>
            <a:off x="2637260" y="4850468"/>
            <a:ext cx="861714" cy="219713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133 </a:t>
            </a:r>
            <a:r>
              <a:rPr lang="ko-KR" altLang="en-US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9B481E-2344-E915-7137-EBD2BFF9B902}"/>
              </a:ext>
            </a:extLst>
          </p:cNvPr>
          <p:cNvSpPr/>
          <p:nvPr/>
        </p:nvSpPr>
        <p:spPr>
          <a:xfrm>
            <a:off x="3558663" y="2321962"/>
            <a:ext cx="588831" cy="2105889"/>
          </a:xfrm>
          <a:prstGeom prst="rect">
            <a:avLst/>
          </a:prstGeom>
          <a:solidFill>
            <a:srgbClr val="156082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5D5E9A7-CB23-2379-A0BB-46DBF77167CE}"/>
              </a:ext>
            </a:extLst>
          </p:cNvPr>
          <p:cNvCxnSpPr>
            <a:cxnSpLocks/>
          </p:cNvCxnSpPr>
          <p:nvPr/>
        </p:nvCxnSpPr>
        <p:spPr>
          <a:xfrm>
            <a:off x="3877255" y="4417629"/>
            <a:ext cx="1200723" cy="346777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E7A99D-FAC2-6243-6692-76486483A110}"/>
              </a:ext>
            </a:extLst>
          </p:cNvPr>
          <p:cNvSpPr/>
          <p:nvPr/>
        </p:nvSpPr>
        <p:spPr>
          <a:xfrm>
            <a:off x="4986608" y="4864195"/>
            <a:ext cx="861714" cy="219713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129 </a:t>
            </a:r>
            <a:r>
              <a:rPr lang="ko-KR" altLang="en-US" sz="1200" kern="0" dirty="0">
                <a:solidFill>
                  <a:prstClr val="white"/>
                </a:solidFill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출력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385330-42AE-F7EF-C332-FFFD837B02D7}"/>
              </a:ext>
            </a:extLst>
          </p:cNvPr>
          <p:cNvSpPr txBox="1"/>
          <p:nvPr/>
        </p:nvSpPr>
        <p:spPr>
          <a:xfrm>
            <a:off x="8460671" y="1580486"/>
            <a:ext cx="454534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[</a:t>
            </a:r>
            <a:r>
              <a:rPr lang="ko-KR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조건</a:t>
            </a:r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 </a:t>
            </a:r>
            <a:r>
              <a:rPr lang="ko-KR" altLang="en-US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예시</a:t>
            </a:r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]</a:t>
            </a:r>
            <a:endParaRPr lang="ko-KR" altLang="ko-KR" sz="2000" b="1" dirty="0">
              <a:effectLst/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r>
              <a:rPr lang="en-US" altLang="ko-KR" sz="18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 </a:t>
            </a:r>
            <a:endParaRPr lang="ko-KR" altLang="ko-KR" sz="20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Group = 3 (3</a:t>
            </a:r>
            <a:r>
              <a:rPr lang="ko-KR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개의 노출 조건 사용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)</a:t>
            </a: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1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:1us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약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84 ~ 92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2 </a:t>
            </a:r>
            <a:endParaRPr lang="en-US" altLang="ko-KR" sz="1600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80us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ko-KR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170 ~ 178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3 </a:t>
            </a:r>
          </a:p>
          <a:p>
            <a:r>
              <a:rPr lang="ko-KR" altLang="en-US" sz="16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en-US" altLang="ko-KR" sz="16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160us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218 ~ 226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Camera FPS : 2121Hz (707Hz * 3)</a:t>
            </a:r>
            <a:endParaRPr lang="ko-KR" altLang="ko-KR" sz="20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7286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5160A-4AA7-F810-EA99-1C6CB0F3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966012-3B67-13A7-4103-72260337FE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 lnSpcReduction="10000"/>
          </a:bodyPr>
          <a:lstStyle/>
          <a:p>
            <a:r>
              <a:rPr lang="ko-KR" altLang="en-US" dirty="0"/>
              <a:t>출력모드 기능 설명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791503-93D2-F54B-E58D-04CAE6B9A193}"/>
              </a:ext>
            </a:extLst>
          </p:cNvPr>
          <p:cNvSpPr txBox="1"/>
          <p:nvPr/>
        </p:nvSpPr>
        <p:spPr>
          <a:xfrm>
            <a:off x="578541" y="1006876"/>
            <a:ext cx="4117441" cy="419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ko-KR" altLang="en-US" sz="16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출력 모드 </a:t>
            </a:r>
            <a:r>
              <a:rPr lang="en-US" altLang="ko-KR" sz="1600" dirty="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3 – Averaging</a:t>
            </a:r>
            <a:endParaRPr lang="ko-KR" altLang="en-US" sz="1600" dirty="0">
              <a:solidFill>
                <a:schemeClr val="tx1"/>
              </a:solidFill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13DEC2-5F9D-AE09-BE42-41E1AD079E74}"/>
              </a:ext>
            </a:extLst>
          </p:cNvPr>
          <p:cNvSpPr txBox="1"/>
          <p:nvPr/>
        </p:nvSpPr>
        <p:spPr>
          <a:xfrm>
            <a:off x="8460671" y="1580486"/>
            <a:ext cx="454534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[</a:t>
            </a:r>
            <a:r>
              <a:rPr lang="ko-KR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조건</a:t>
            </a:r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 </a:t>
            </a:r>
            <a:r>
              <a:rPr lang="ko-KR" altLang="en-US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예시</a:t>
            </a:r>
            <a:r>
              <a:rPr lang="en-US" altLang="ko-KR" sz="1800" b="1" dirty="0">
                <a:effectLst/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rPr>
              <a:t>]</a:t>
            </a:r>
            <a:endParaRPr lang="ko-KR" altLang="ko-KR" sz="2000" b="1" dirty="0">
              <a:effectLst/>
              <a:latin typeface="뷰웍스 B" panose="02020503020101020101" pitchFamily="18" charset="-127"/>
              <a:ea typeface="뷰웍스 B" panose="02020503020101020101" pitchFamily="18" charset="-127"/>
              <a:cs typeface="뷰웍스 B" panose="02020503020101020101" pitchFamily="18" charset="-127"/>
            </a:endParaRPr>
          </a:p>
          <a:p>
            <a:r>
              <a:rPr lang="en-US" altLang="ko-KR" sz="18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 </a:t>
            </a:r>
            <a:endParaRPr lang="ko-KR" altLang="ko-KR" sz="20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Group = 3 (3</a:t>
            </a:r>
            <a:r>
              <a:rPr lang="ko-KR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개의 노출 조건 사용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)</a:t>
            </a: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1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:1us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약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84 ~ 92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2 </a:t>
            </a:r>
            <a:endParaRPr lang="en-US" altLang="ko-KR" sz="1600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80us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ko-KR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 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170 ~ 178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Exposure 3 </a:t>
            </a:r>
          </a:p>
          <a:p>
            <a:r>
              <a:rPr lang="ko-KR" altLang="en-US" sz="1600" dirty="0" err="1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노출값</a:t>
            </a:r>
            <a:r>
              <a:rPr lang="en-US" altLang="ko-KR" sz="1600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160us </a:t>
            </a:r>
          </a:p>
          <a:p>
            <a:r>
              <a:rPr lang="ko-KR" altLang="en-US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신호출력</a:t>
            </a:r>
            <a:r>
              <a:rPr lang="ko-KR" altLang="ko-KR" sz="1600" dirty="0" err="1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값</a:t>
            </a:r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: 218 ~ 226</a:t>
            </a:r>
            <a:r>
              <a:rPr lang="ko-KR" altLang="en-US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사이</a:t>
            </a:r>
            <a:endParaRPr lang="en-US" altLang="ko-KR" sz="1600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endParaRPr lang="ko-KR" altLang="ko-KR" dirty="0">
              <a:effectLst/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  <a:p>
            <a:r>
              <a:rPr lang="en-US" altLang="ko-KR" sz="1600" dirty="0">
                <a:effectLst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Camera FPS : 2121Hz (707Hz * 3)</a:t>
            </a:r>
          </a:p>
          <a:p>
            <a:endParaRPr lang="en-US" altLang="ko-KR" sz="1600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ABE4CA1-018E-04AF-F1AC-0F61B0E4F381}"/>
              </a:ext>
            </a:extLst>
          </p:cNvPr>
          <p:cNvGrpSpPr/>
          <p:nvPr/>
        </p:nvGrpSpPr>
        <p:grpSpPr>
          <a:xfrm>
            <a:off x="470669" y="1506178"/>
            <a:ext cx="2853983" cy="4664766"/>
            <a:chOff x="470669" y="1506178"/>
            <a:chExt cx="2853983" cy="4664766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F5CFF4C-F862-0115-85A2-3F7F1E22E23C}"/>
                </a:ext>
              </a:extLst>
            </p:cNvPr>
            <p:cNvGrpSpPr/>
            <p:nvPr/>
          </p:nvGrpSpPr>
          <p:grpSpPr>
            <a:xfrm>
              <a:off x="470669" y="1506178"/>
              <a:ext cx="2853983" cy="4664766"/>
              <a:chOff x="268434" y="1810073"/>
              <a:chExt cx="2853983" cy="4664766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AB43707D-2890-D5AE-D18C-67BEADBD71D0}"/>
                  </a:ext>
                </a:extLst>
              </p:cNvPr>
              <p:cNvGrpSpPr/>
              <p:nvPr/>
            </p:nvGrpSpPr>
            <p:grpSpPr>
              <a:xfrm>
                <a:off x="578541" y="2316050"/>
                <a:ext cx="1806851" cy="1923093"/>
                <a:chOff x="867428" y="1760237"/>
                <a:chExt cx="1806851" cy="1923093"/>
              </a:xfrm>
            </p:grpSpPr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58EA41E5-9873-6D61-6E49-CBCC56A39909}"/>
                    </a:ext>
                  </a:extLst>
                </p:cNvPr>
                <p:cNvCxnSpPr/>
                <p:nvPr/>
              </p:nvCxnSpPr>
              <p:spPr>
                <a:xfrm>
                  <a:off x="1150291" y="1968057"/>
                  <a:ext cx="0" cy="9236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15608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25" name="직선 연결선 124">
                  <a:extLst>
                    <a:ext uri="{FF2B5EF4-FFF2-40B4-BE49-F238E27FC236}">
                      <a16:creationId xmlns:a16="http://schemas.microsoft.com/office/drawing/2014/main" id="{7D41ECE2-10E4-6CC0-0774-129F3A4391DF}"/>
                    </a:ext>
                  </a:extLst>
                </p:cNvPr>
                <p:cNvCxnSpPr/>
                <p:nvPr/>
              </p:nvCxnSpPr>
              <p:spPr>
                <a:xfrm>
                  <a:off x="1770279" y="1986529"/>
                  <a:ext cx="0" cy="9236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15608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1B3810A1-7566-203E-4272-70B919C2B878}"/>
                    </a:ext>
                  </a:extLst>
                </p:cNvPr>
                <p:cNvCxnSpPr/>
                <p:nvPr/>
              </p:nvCxnSpPr>
              <p:spPr>
                <a:xfrm>
                  <a:off x="2363716" y="1986529"/>
                  <a:ext cx="0" cy="9236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15608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27" name="직사각형 126">
                  <a:extLst>
                    <a:ext uri="{FF2B5EF4-FFF2-40B4-BE49-F238E27FC236}">
                      <a16:creationId xmlns:a16="http://schemas.microsoft.com/office/drawing/2014/main" id="{F3C5D9F7-0C44-68B4-09DE-15DF0FA33DD6}"/>
                    </a:ext>
                  </a:extLst>
                </p:cNvPr>
                <p:cNvSpPr/>
                <p:nvPr/>
              </p:nvSpPr>
              <p:spPr>
                <a:xfrm>
                  <a:off x="867428" y="2891693"/>
                  <a:ext cx="565726" cy="332509"/>
                </a:xfrm>
                <a:prstGeom prst="rect">
                  <a:avLst/>
                </a:prstGeom>
                <a:solidFill>
                  <a:srgbClr val="156082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88</a:t>
                  </a:r>
                  <a:endPara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128" name="직사각형 127">
                  <a:extLst>
                    <a:ext uri="{FF2B5EF4-FFF2-40B4-BE49-F238E27FC236}">
                      <a16:creationId xmlns:a16="http://schemas.microsoft.com/office/drawing/2014/main" id="{2C0E96B5-BDC1-9B21-35AB-692CDE549D6D}"/>
                    </a:ext>
                  </a:extLst>
                </p:cNvPr>
                <p:cNvSpPr/>
                <p:nvPr/>
              </p:nvSpPr>
              <p:spPr>
                <a:xfrm>
                  <a:off x="1479341" y="2891692"/>
                  <a:ext cx="565726" cy="332509"/>
                </a:xfrm>
                <a:prstGeom prst="rect">
                  <a:avLst/>
                </a:prstGeom>
                <a:solidFill>
                  <a:srgbClr val="156082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172</a:t>
                  </a:r>
                  <a:endPara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C9942572-FB9D-111D-A2B8-C4FF57474FE0}"/>
                    </a:ext>
                  </a:extLst>
                </p:cNvPr>
                <p:cNvSpPr/>
                <p:nvPr/>
              </p:nvSpPr>
              <p:spPr>
                <a:xfrm>
                  <a:off x="2108553" y="2891691"/>
                  <a:ext cx="565726" cy="332509"/>
                </a:xfrm>
                <a:prstGeom prst="rect">
                  <a:avLst/>
                </a:prstGeom>
                <a:solidFill>
                  <a:srgbClr val="156082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225</a:t>
                  </a:r>
                  <a:endPara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130" name="타원 129">
                  <a:extLst>
                    <a:ext uri="{FF2B5EF4-FFF2-40B4-BE49-F238E27FC236}">
                      <a16:creationId xmlns:a16="http://schemas.microsoft.com/office/drawing/2014/main" id="{B5F6CA7E-25F9-C27A-4BBE-D16231ACD6B2}"/>
                    </a:ext>
                  </a:extLst>
                </p:cNvPr>
                <p:cNvSpPr/>
                <p:nvPr/>
              </p:nvSpPr>
              <p:spPr>
                <a:xfrm>
                  <a:off x="1052153" y="1774093"/>
                  <a:ext cx="221668" cy="332509"/>
                </a:xfrm>
                <a:prstGeom prst="ellipse">
                  <a:avLst/>
                </a:prstGeom>
                <a:solidFill>
                  <a:srgbClr val="FFC00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1</a:t>
                  </a:r>
                  <a:endPara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91178D8E-11AD-009B-5488-01563DCA51D9}"/>
                    </a:ext>
                  </a:extLst>
                </p:cNvPr>
                <p:cNvSpPr/>
                <p:nvPr/>
              </p:nvSpPr>
              <p:spPr>
                <a:xfrm>
                  <a:off x="1659445" y="1760238"/>
                  <a:ext cx="221668" cy="332509"/>
                </a:xfrm>
                <a:prstGeom prst="ellipse">
                  <a:avLst/>
                </a:prstGeom>
                <a:solidFill>
                  <a:srgbClr val="FFC00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2</a:t>
                  </a:r>
                  <a:endPara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132" name="타원 131">
                  <a:extLst>
                    <a:ext uri="{FF2B5EF4-FFF2-40B4-BE49-F238E27FC236}">
                      <a16:creationId xmlns:a16="http://schemas.microsoft.com/office/drawing/2014/main" id="{347E69B9-A4D7-00E6-A6C0-AC65FC26756D}"/>
                    </a:ext>
                  </a:extLst>
                </p:cNvPr>
                <p:cNvSpPr/>
                <p:nvPr/>
              </p:nvSpPr>
              <p:spPr>
                <a:xfrm>
                  <a:off x="2252882" y="1760237"/>
                  <a:ext cx="221668" cy="332509"/>
                </a:xfrm>
                <a:prstGeom prst="ellipse">
                  <a:avLst/>
                </a:prstGeom>
                <a:solidFill>
                  <a:srgbClr val="FFC00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3</a:t>
                  </a:r>
                  <a:endPara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142" name="오른쪽 중괄호 141">
                  <a:extLst>
                    <a:ext uri="{FF2B5EF4-FFF2-40B4-BE49-F238E27FC236}">
                      <a16:creationId xmlns:a16="http://schemas.microsoft.com/office/drawing/2014/main" id="{BC930DE5-1A13-E21D-D6A3-B27AAC254607}"/>
                    </a:ext>
                  </a:extLst>
                </p:cNvPr>
                <p:cNvSpPr/>
                <p:nvPr/>
              </p:nvSpPr>
              <p:spPr>
                <a:xfrm rot="5400000">
                  <a:off x="1602001" y="2840798"/>
                  <a:ext cx="336554" cy="1348509"/>
                </a:xfrm>
                <a:prstGeom prst="rightBrace">
                  <a:avLst/>
                </a:prstGeom>
                <a:noFill/>
                <a:ln w="19050" cap="flat" cmpd="sng" algn="ctr">
                  <a:solidFill>
                    <a:srgbClr val="15608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</p:grp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CECF57D4-4A9D-02C5-682D-5D934A3B1859}"/>
                  </a:ext>
                </a:extLst>
              </p:cNvPr>
              <p:cNvSpPr/>
              <p:nvPr/>
            </p:nvSpPr>
            <p:spPr>
              <a:xfrm>
                <a:off x="475348" y="1810073"/>
                <a:ext cx="1344318" cy="173469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신호 </a:t>
                </a:r>
                <a:r>
                  <a:rPr kumimoji="0" lang="ko-KR" altLang="en-US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문턱값</a:t>
                </a: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: 100</a:t>
                </a:r>
                <a:endPara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뷰웍스 L" panose="02020503020101020101" pitchFamily="18" charset="-127"/>
                  <a:ea typeface="뷰웍스 L" panose="02020503020101020101" pitchFamily="18" charset="-127"/>
                  <a:cs typeface="뷰웍스 L" panose="020205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560B7E-6625-56A8-5E3E-DC89CAC7F349}"/>
                  </a:ext>
                </a:extLst>
              </p:cNvPr>
              <p:cNvSpPr txBox="1"/>
              <p:nvPr/>
            </p:nvSpPr>
            <p:spPr>
              <a:xfrm>
                <a:off x="268434" y="5089844"/>
                <a:ext cx="285398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172 – 88 = </a:t>
                </a:r>
                <a:r>
                  <a:rPr lang="en-US" altLang="ko-KR" sz="1400" b="1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84</a:t>
                </a:r>
              </a:p>
              <a:p>
                <a:r>
                  <a:rPr lang="en-US" altLang="ko-KR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225 – 172 = </a:t>
                </a:r>
                <a:r>
                  <a:rPr lang="en-US" altLang="ko-KR" sz="1400" b="1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53</a:t>
                </a:r>
                <a:r>
                  <a:rPr lang="en-US" altLang="ko-KR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 </a:t>
                </a:r>
              </a:p>
              <a:p>
                <a:endParaRPr lang="en-US" altLang="ko-KR" sz="1400" dirty="0">
                  <a:latin typeface="뷰웍스 L" panose="02020503020101020101" pitchFamily="18" charset="-127"/>
                  <a:ea typeface="뷰웍스 L" panose="02020503020101020101" pitchFamily="18" charset="-127"/>
                  <a:cs typeface="뷰웍스 L" panose="02020503020101020101" pitchFamily="18" charset="-127"/>
                </a:endParaRPr>
              </a:p>
              <a:p>
                <a:r>
                  <a:rPr lang="ko-KR" altLang="en-US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신호 문턱 </a:t>
                </a:r>
                <a:r>
                  <a:rPr lang="en-US" altLang="ko-KR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100</a:t>
                </a:r>
                <a:r>
                  <a:rPr lang="ko-KR" altLang="en-US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보다 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각 신호별 </a:t>
                </a:r>
                <a:r>
                  <a:rPr lang="ko-KR" altLang="en-US" sz="1400" dirty="0" err="1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차이값인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 </a:t>
                </a:r>
                <a:r>
                  <a:rPr lang="en-US" altLang="ko-KR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84,53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이 작으므로 </a:t>
                </a:r>
                <a:r>
                  <a:rPr lang="en-US" altLang="ko-KR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88,172,225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의 평균값인 신호 </a:t>
                </a:r>
                <a:r>
                  <a:rPr lang="en-US" altLang="ko-KR" sz="1400" b="1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161.6</a:t>
                </a:r>
                <a:r>
                  <a:rPr lang="en-US" altLang="ko-KR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 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출력</a:t>
                </a:r>
                <a:endParaRPr lang="ko-KR" altLang="ko-KR" sz="1400" dirty="0">
                  <a:effectLst/>
                  <a:latin typeface="뷰웍스 L" panose="02020503020101020101" pitchFamily="18" charset="-127"/>
                  <a:ea typeface="뷰웍스 L" panose="02020503020101020101" pitchFamily="18" charset="-127"/>
                  <a:cs typeface="뷰웍스 L" panose="02020503020101020101" pitchFamily="18" charset="-127"/>
                </a:endParaRPr>
              </a:p>
            </p:txBody>
          </p:sp>
        </p:grp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F63CD0D-7BD9-0293-6191-78EB01825115}"/>
                </a:ext>
              </a:extLst>
            </p:cNvPr>
            <p:cNvSpPr/>
            <p:nvPr/>
          </p:nvSpPr>
          <p:spPr>
            <a:xfrm>
              <a:off x="1202351" y="3988723"/>
              <a:ext cx="963879" cy="272486"/>
            </a:xfrm>
            <a:prstGeom prst="rect">
              <a:avLst/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뷰웍스 L" panose="02020503020101020101" pitchFamily="18" charset="-127"/>
                  <a:ea typeface="뷰웍스 L" panose="02020503020101020101" pitchFamily="18" charset="-127"/>
                  <a:cs typeface="뷰웍스 L" panose="02020503020101020101" pitchFamily="18" charset="-127"/>
                </a:rPr>
                <a:t>161.6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ED8C3C1-C14C-31EA-B0B1-43B5FC8B0113}"/>
              </a:ext>
            </a:extLst>
          </p:cNvPr>
          <p:cNvGrpSpPr/>
          <p:nvPr/>
        </p:nvGrpSpPr>
        <p:grpSpPr>
          <a:xfrm>
            <a:off x="3918088" y="1506178"/>
            <a:ext cx="2853983" cy="4561877"/>
            <a:chOff x="656949" y="1506178"/>
            <a:chExt cx="2853983" cy="4561877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2B80BFC-8D8A-9153-0000-1904A25806C7}"/>
                </a:ext>
              </a:extLst>
            </p:cNvPr>
            <p:cNvGrpSpPr/>
            <p:nvPr/>
          </p:nvGrpSpPr>
          <p:grpSpPr>
            <a:xfrm>
              <a:off x="656949" y="1506178"/>
              <a:ext cx="2853983" cy="4561877"/>
              <a:chOff x="454714" y="1810073"/>
              <a:chExt cx="2853983" cy="4561877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895DEF58-E8A9-DF10-0B99-61E9558AF5D3}"/>
                  </a:ext>
                </a:extLst>
              </p:cNvPr>
              <p:cNvGrpSpPr/>
              <p:nvPr/>
            </p:nvGrpSpPr>
            <p:grpSpPr>
              <a:xfrm>
                <a:off x="578541" y="2316050"/>
                <a:ext cx="1806851" cy="1923093"/>
                <a:chOff x="867428" y="1760237"/>
                <a:chExt cx="1806851" cy="1923093"/>
              </a:xfrm>
            </p:grpSpPr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B97FE364-A6E5-E5D1-AC08-71FCD2D37095}"/>
                    </a:ext>
                  </a:extLst>
                </p:cNvPr>
                <p:cNvCxnSpPr/>
                <p:nvPr/>
              </p:nvCxnSpPr>
              <p:spPr>
                <a:xfrm>
                  <a:off x="1150291" y="1968057"/>
                  <a:ext cx="0" cy="9236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15608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D32D01C6-874A-0D62-1B83-88E607E3AA8B}"/>
                    </a:ext>
                  </a:extLst>
                </p:cNvPr>
                <p:cNvCxnSpPr/>
                <p:nvPr/>
              </p:nvCxnSpPr>
              <p:spPr>
                <a:xfrm>
                  <a:off x="1770279" y="1986529"/>
                  <a:ext cx="0" cy="9236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15608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CDF60B7E-BE85-21C3-6348-2D9E14CE10B5}"/>
                    </a:ext>
                  </a:extLst>
                </p:cNvPr>
                <p:cNvCxnSpPr/>
                <p:nvPr/>
              </p:nvCxnSpPr>
              <p:spPr>
                <a:xfrm>
                  <a:off x="2363716" y="1986529"/>
                  <a:ext cx="0" cy="9236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15608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D5EABA82-4466-C8DD-8983-CF2E848AB610}"/>
                    </a:ext>
                  </a:extLst>
                </p:cNvPr>
                <p:cNvSpPr/>
                <p:nvPr/>
              </p:nvSpPr>
              <p:spPr>
                <a:xfrm>
                  <a:off x="867428" y="2891693"/>
                  <a:ext cx="565726" cy="332509"/>
                </a:xfrm>
                <a:prstGeom prst="rect">
                  <a:avLst/>
                </a:prstGeom>
                <a:solidFill>
                  <a:srgbClr val="156082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88</a:t>
                  </a:r>
                  <a:endPara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26EB103E-4D02-8325-5767-724700BE16AB}"/>
                    </a:ext>
                  </a:extLst>
                </p:cNvPr>
                <p:cNvSpPr/>
                <p:nvPr/>
              </p:nvSpPr>
              <p:spPr>
                <a:xfrm>
                  <a:off x="1479341" y="2891692"/>
                  <a:ext cx="565726" cy="332509"/>
                </a:xfrm>
                <a:prstGeom prst="rect">
                  <a:avLst/>
                </a:prstGeom>
                <a:solidFill>
                  <a:srgbClr val="156082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172</a:t>
                  </a:r>
                  <a:endPara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3BA4DAB4-E95D-C79E-CFAF-32858642A86B}"/>
                    </a:ext>
                  </a:extLst>
                </p:cNvPr>
                <p:cNvSpPr/>
                <p:nvPr/>
              </p:nvSpPr>
              <p:spPr>
                <a:xfrm>
                  <a:off x="2108553" y="2891691"/>
                  <a:ext cx="565726" cy="332509"/>
                </a:xfrm>
                <a:prstGeom prst="rect">
                  <a:avLst/>
                </a:prstGeom>
                <a:solidFill>
                  <a:srgbClr val="156082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225</a:t>
                  </a:r>
                  <a:endPara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42" name="타원 41">
                  <a:extLst>
                    <a:ext uri="{FF2B5EF4-FFF2-40B4-BE49-F238E27FC236}">
                      <a16:creationId xmlns:a16="http://schemas.microsoft.com/office/drawing/2014/main" id="{5AB478D6-D4CC-1C46-D056-06174554B448}"/>
                    </a:ext>
                  </a:extLst>
                </p:cNvPr>
                <p:cNvSpPr/>
                <p:nvPr/>
              </p:nvSpPr>
              <p:spPr>
                <a:xfrm>
                  <a:off x="1052153" y="1774093"/>
                  <a:ext cx="221668" cy="332509"/>
                </a:xfrm>
                <a:prstGeom prst="ellipse">
                  <a:avLst/>
                </a:prstGeom>
                <a:solidFill>
                  <a:srgbClr val="FFC00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1</a:t>
                  </a:r>
                  <a:endPara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FCCA927F-F682-F957-248E-3B1E72ED82BD}"/>
                    </a:ext>
                  </a:extLst>
                </p:cNvPr>
                <p:cNvSpPr/>
                <p:nvPr/>
              </p:nvSpPr>
              <p:spPr>
                <a:xfrm>
                  <a:off x="1659445" y="1760238"/>
                  <a:ext cx="221668" cy="332509"/>
                </a:xfrm>
                <a:prstGeom prst="ellipse">
                  <a:avLst/>
                </a:prstGeom>
                <a:solidFill>
                  <a:srgbClr val="FFC00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2</a:t>
                  </a:r>
                  <a:endPara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324F529F-FBEC-CBC9-A087-7EB2BF7615FC}"/>
                    </a:ext>
                  </a:extLst>
                </p:cNvPr>
                <p:cNvSpPr/>
                <p:nvPr/>
              </p:nvSpPr>
              <p:spPr>
                <a:xfrm>
                  <a:off x="2252882" y="1760237"/>
                  <a:ext cx="221668" cy="332509"/>
                </a:xfrm>
                <a:prstGeom prst="ellipse">
                  <a:avLst/>
                </a:prstGeom>
                <a:solidFill>
                  <a:srgbClr val="FFC00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뷰웍스 L" panose="02020503020101020101" pitchFamily="18" charset="-127"/>
                      <a:ea typeface="뷰웍스 L" panose="02020503020101020101" pitchFamily="18" charset="-127"/>
                      <a:cs typeface="뷰웍스 L" panose="02020503020101020101" pitchFamily="18" charset="-127"/>
                    </a:rPr>
                    <a:t>3</a:t>
                  </a:r>
                  <a:endPara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  <p:sp>
              <p:nvSpPr>
                <p:cNvPr id="45" name="오른쪽 중괄호 44">
                  <a:extLst>
                    <a:ext uri="{FF2B5EF4-FFF2-40B4-BE49-F238E27FC236}">
                      <a16:creationId xmlns:a16="http://schemas.microsoft.com/office/drawing/2014/main" id="{97701079-DB60-2F92-5098-15D93416CEC7}"/>
                    </a:ext>
                  </a:extLst>
                </p:cNvPr>
                <p:cNvSpPr/>
                <p:nvPr/>
              </p:nvSpPr>
              <p:spPr>
                <a:xfrm rot="5400000">
                  <a:off x="1602001" y="2840798"/>
                  <a:ext cx="336554" cy="1348509"/>
                </a:xfrm>
                <a:prstGeom prst="rightBrace">
                  <a:avLst/>
                </a:prstGeom>
                <a:noFill/>
                <a:ln w="19050" cap="flat" cmpd="sng" algn="ctr">
                  <a:solidFill>
                    <a:srgbClr val="15608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endParaRPr>
                </a:p>
              </p:txBody>
            </p:sp>
          </p:grp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DF1DEFE-A555-1E28-32C0-EB3706D2F45B}"/>
                  </a:ext>
                </a:extLst>
              </p:cNvPr>
              <p:cNvSpPr/>
              <p:nvPr/>
            </p:nvSpPr>
            <p:spPr>
              <a:xfrm>
                <a:off x="475348" y="1810073"/>
                <a:ext cx="1344318" cy="173469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신호 </a:t>
                </a:r>
                <a:r>
                  <a:rPr kumimoji="0" lang="ko-KR" altLang="en-US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문턱값</a:t>
                </a: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: 50</a:t>
                </a:r>
                <a:endPara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뷰웍스 L" panose="02020503020101020101" pitchFamily="18" charset="-127"/>
                  <a:ea typeface="뷰웍스 L" panose="02020503020101020101" pitchFamily="18" charset="-127"/>
                  <a:cs typeface="뷰웍스 L" panose="02020503020101020101" pitchFamily="18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67F2EA-54B9-37D1-4943-B75BE7EDD07B}"/>
                  </a:ext>
                </a:extLst>
              </p:cNvPr>
              <p:cNvSpPr txBox="1"/>
              <p:nvPr/>
            </p:nvSpPr>
            <p:spPr>
              <a:xfrm>
                <a:off x="454714" y="4986955"/>
                <a:ext cx="285398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172 – 88 = </a:t>
                </a:r>
                <a:r>
                  <a:rPr lang="en-US" altLang="ko-KR" sz="1400" b="1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84</a:t>
                </a:r>
              </a:p>
              <a:p>
                <a:r>
                  <a:rPr lang="en-US" altLang="ko-KR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225 – 172 = </a:t>
                </a:r>
                <a:r>
                  <a:rPr lang="en-US" altLang="ko-KR" sz="1400" b="1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53</a:t>
                </a:r>
                <a:r>
                  <a:rPr lang="en-US" altLang="ko-KR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 </a:t>
                </a:r>
              </a:p>
              <a:p>
                <a:endParaRPr lang="en-US" altLang="ko-KR" sz="1400" dirty="0">
                  <a:latin typeface="뷰웍스 L" panose="02020503020101020101" pitchFamily="18" charset="-127"/>
                  <a:ea typeface="뷰웍스 L" panose="02020503020101020101" pitchFamily="18" charset="-127"/>
                  <a:cs typeface="뷰웍스 L" panose="02020503020101020101" pitchFamily="18" charset="-127"/>
                </a:endParaRPr>
              </a:p>
              <a:p>
                <a:r>
                  <a:rPr lang="ko-KR" altLang="en-US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신호 문턱 </a:t>
                </a:r>
                <a:r>
                  <a:rPr lang="en-US" altLang="ko-KR" sz="1400" b="1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50</a:t>
                </a:r>
                <a:r>
                  <a:rPr lang="ko-KR" altLang="en-US" sz="1400" dirty="0">
                    <a:effectLst/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보다 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각 신호별 </a:t>
                </a:r>
                <a:r>
                  <a:rPr lang="ko-KR" altLang="en-US" sz="1400" dirty="0" err="1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차이값인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 </a:t>
                </a:r>
                <a:r>
                  <a:rPr lang="en-US" altLang="ko-KR" sz="1400" b="1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84,53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이 크므로 예외처리 신호 </a:t>
                </a:r>
                <a:r>
                  <a:rPr lang="en-US" altLang="ko-KR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10V (2048) </a:t>
                </a:r>
                <a:r>
                  <a:rPr lang="ko-KR" altLang="en-US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출력</a:t>
                </a:r>
                <a:r>
                  <a:rPr lang="en-US" altLang="ko-KR" sz="1400" dirty="0">
                    <a:latin typeface="뷰웍스 L" panose="02020503020101020101" pitchFamily="18" charset="-127"/>
                    <a:ea typeface="뷰웍스 L" panose="02020503020101020101" pitchFamily="18" charset="-127"/>
                    <a:cs typeface="뷰웍스 L" panose="02020503020101020101" pitchFamily="18" charset="-127"/>
                  </a:rPr>
                  <a:t>.</a:t>
                </a:r>
                <a:endParaRPr lang="ko-KR" altLang="ko-KR" sz="1400" dirty="0">
                  <a:effectLst/>
                  <a:latin typeface="뷰웍스 L" panose="02020503020101020101" pitchFamily="18" charset="-127"/>
                  <a:ea typeface="뷰웍스 L" panose="02020503020101020101" pitchFamily="18" charset="-127"/>
                  <a:cs typeface="뷰웍스 L" panose="02020503020101020101" pitchFamily="18" charset="-127"/>
                </a:endParaRPr>
              </a:p>
            </p:txBody>
          </p:sp>
        </p:grp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97E3AC0-C1E1-F815-3DD0-02528915205E}"/>
                </a:ext>
              </a:extLst>
            </p:cNvPr>
            <p:cNvSpPr/>
            <p:nvPr/>
          </p:nvSpPr>
          <p:spPr>
            <a:xfrm>
              <a:off x="1202351" y="3988723"/>
              <a:ext cx="963879" cy="272486"/>
            </a:xfrm>
            <a:prstGeom prst="rect">
              <a:avLst/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prstClr val="white"/>
                  </a:solidFill>
                  <a:latin typeface="뷰웍스 L" panose="02020503020101020101" pitchFamily="18" charset="-127"/>
                  <a:ea typeface="뷰웍스 L" panose="02020503020101020101" pitchFamily="18" charset="-127"/>
                  <a:cs typeface="뷰웍스 L" panose="02020503020101020101" pitchFamily="18" charset="-127"/>
                </a:rPr>
                <a:t>2048(10V)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05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B1DF-7254-3584-8697-3DE3F4A3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B8CC6F2-92AD-6675-BB39-B5B1B3CC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검증 과정 및 결과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1F363B-96B8-8411-8B70-3307418A3FB4}"/>
              </a:ext>
            </a:extLst>
          </p:cNvPr>
          <p:cNvSpPr txBox="1"/>
          <p:nvPr/>
        </p:nvSpPr>
        <p:spPr>
          <a:xfrm>
            <a:off x="578541" y="1062095"/>
            <a:ext cx="10969025" cy="461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검증 결과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] </a:t>
            </a:r>
            <a:r>
              <a:rPr lang="ko-KR" altLang="en-US" sz="1400" dirty="0" err="1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뷰웍스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사내 실험실 결과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1B43370-533F-B5BB-E4F3-96A435964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932499"/>
              </p:ext>
            </p:extLst>
          </p:nvPr>
        </p:nvGraphicFramePr>
        <p:xfrm>
          <a:off x="733245" y="1940943"/>
          <a:ext cx="10814322" cy="3475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34">
                  <a:extLst>
                    <a:ext uri="{9D8B030D-6E8A-4147-A177-3AD203B41FA5}">
                      <a16:colId xmlns:a16="http://schemas.microsoft.com/office/drawing/2014/main" val="1528553469"/>
                    </a:ext>
                  </a:extLst>
                </a:gridCol>
                <a:gridCol w="2340847">
                  <a:extLst>
                    <a:ext uri="{9D8B030D-6E8A-4147-A177-3AD203B41FA5}">
                      <a16:colId xmlns:a16="http://schemas.microsoft.com/office/drawing/2014/main" val="178047025"/>
                    </a:ext>
                  </a:extLst>
                </a:gridCol>
                <a:gridCol w="2340847">
                  <a:extLst>
                    <a:ext uri="{9D8B030D-6E8A-4147-A177-3AD203B41FA5}">
                      <a16:colId xmlns:a16="http://schemas.microsoft.com/office/drawing/2014/main" val="1298230558"/>
                    </a:ext>
                  </a:extLst>
                </a:gridCol>
                <a:gridCol w="1560565">
                  <a:extLst>
                    <a:ext uri="{9D8B030D-6E8A-4147-A177-3AD203B41FA5}">
                      <a16:colId xmlns:a16="http://schemas.microsoft.com/office/drawing/2014/main" val="87530377"/>
                    </a:ext>
                  </a:extLst>
                </a:gridCol>
                <a:gridCol w="1560564">
                  <a:extLst>
                    <a:ext uri="{9D8B030D-6E8A-4147-A177-3AD203B41FA5}">
                      <a16:colId xmlns:a16="http://schemas.microsoft.com/office/drawing/2014/main" val="2041145937"/>
                    </a:ext>
                  </a:extLst>
                </a:gridCol>
                <a:gridCol w="1560565">
                  <a:extLst>
                    <a:ext uri="{9D8B030D-6E8A-4147-A177-3AD203B41FA5}">
                      <a16:colId xmlns:a16="http://schemas.microsoft.com/office/drawing/2014/main" val="266740704"/>
                    </a:ext>
                  </a:extLst>
                </a:gridCol>
              </a:tblGrid>
              <a:tr h="598411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17496"/>
                  </a:ext>
                </a:extLst>
              </a:tr>
              <a:tr h="33883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Mode 1</a:t>
                      </a:r>
                    </a:p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(Using one sample)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2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1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2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3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684480"/>
                  </a:ext>
                </a:extLst>
              </a:tr>
              <a:tr h="5903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결과 값 </a:t>
                      </a:r>
                      <a:r>
                        <a:rPr lang="en-US" altLang="ko-KR" sz="1200" b="0" dirty="0"/>
                        <a:t>: 65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결과 값 </a:t>
                      </a:r>
                      <a:r>
                        <a:rPr lang="en-US" altLang="ko-KR" sz="1200" b="0" dirty="0"/>
                        <a:t>: 200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결과 값 </a:t>
                      </a:r>
                      <a:r>
                        <a:rPr lang="en-US" altLang="ko-KR" sz="1200" dirty="0"/>
                        <a:t>: 65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결과 값 </a:t>
                      </a:r>
                      <a:r>
                        <a:rPr lang="en-US" altLang="ko-KR" sz="1200"/>
                        <a:t>: 200</a:t>
                      </a:r>
                    </a:p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결과 값 </a:t>
                      </a:r>
                      <a:r>
                        <a:rPr lang="en-US" altLang="ko-KR" sz="1200" dirty="0"/>
                        <a:t>: 0.1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010122"/>
                  </a:ext>
                </a:extLst>
              </a:tr>
              <a:tr h="33883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Mode 2</a:t>
                      </a:r>
                    </a:p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(Using two sample)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2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2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3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1813"/>
                  </a:ext>
                </a:extLst>
              </a:tr>
              <a:tr h="673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결과 값 </a:t>
                      </a:r>
                      <a:r>
                        <a:rPr lang="en-US" altLang="ko-KR" sz="1200" b="0" dirty="0"/>
                        <a:t>: 133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결과 값 </a:t>
                      </a:r>
                      <a:r>
                        <a:rPr lang="en-US" altLang="ko-KR" sz="1200" b="0"/>
                        <a:t>: 133</a:t>
                      </a:r>
                    </a:p>
                    <a:p>
                      <a:pPr algn="ctr" latinLnBrk="1"/>
                      <a:r>
                        <a:rPr lang="en-US" altLang="ko-KR" sz="1200" b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b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결과 값 </a:t>
                      </a:r>
                      <a:r>
                        <a:rPr lang="en-US" altLang="ko-KR" sz="1200" dirty="0"/>
                        <a:t>: 33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결과 값 </a:t>
                      </a:r>
                      <a:r>
                        <a:rPr lang="en-US" altLang="ko-KR" sz="1200" dirty="0"/>
                        <a:t>: 133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결과 값 </a:t>
                      </a:r>
                      <a:r>
                        <a:rPr lang="en-US" altLang="ko-KR" sz="1200" dirty="0"/>
                        <a:t>: 33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382224"/>
                  </a:ext>
                </a:extLst>
              </a:tr>
              <a:tr h="9355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Mode 3</a:t>
                      </a:r>
                    </a:p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(Averaging)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결과 값 </a:t>
                      </a:r>
                      <a:r>
                        <a:rPr lang="en-US" altLang="ko-KR" sz="1200" b="0" dirty="0"/>
                        <a:t>: 133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결과 값 </a:t>
                      </a:r>
                      <a:r>
                        <a:rPr lang="en-US" altLang="ko-KR" sz="1200" b="0" dirty="0"/>
                        <a:t>: 88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(PASS)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853817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BC787AA7-A1D3-1FA6-38CD-FF2188A3E1EB}"/>
              </a:ext>
            </a:extLst>
          </p:cNvPr>
          <p:cNvSpPr txBox="1"/>
          <p:nvPr/>
        </p:nvSpPr>
        <p:spPr>
          <a:xfrm>
            <a:off x="1415226" y="1972917"/>
            <a:ext cx="879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Exposure</a:t>
            </a:r>
            <a:r>
              <a:rPr lang="ko-KR" altLang="en-US" sz="1000" b="1" dirty="0"/>
              <a:t> 개수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8BDC9E-F26C-EDD9-CCE6-3FECA20AC404}"/>
              </a:ext>
            </a:extLst>
          </p:cNvPr>
          <p:cNvSpPr txBox="1"/>
          <p:nvPr/>
        </p:nvSpPr>
        <p:spPr>
          <a:xfrm>
            <a:off x="644433" y="2172972"/>
            <a:ext cx="879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Sequence</a:t>
            </a:r>
          </a:p>
          <a:p>
            <a:pPr algn="ctr"/>
            <a:r>
              <a:rPr lang="en-US" altLang="ko-KR" sz="1000" b="1" dirty="0"/>
              <a:t>mode</a:t>
            </a:r>
            <a:endParaRPr lang="ko-KR" altLang="en-US" sz="1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78E99-7789-E0B4-C202-3995B943D16E}"/>
              </a:ext>
            </a:extLst>
          </p:cNvPr>
          <p:cNvSpPr txBox="1"/>
          <p:nvPr/>
        </p:nvSpPr>
        <p:spPr>
          <a:xfrm>
            <a:off x="1148153" y="5717387"/>
            <a:ext cx="982980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해당 실험 조건은 직접 스캔하면서 측정하지 않고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AF 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카메라만 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Streaming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하는 조건에서 계산 결과가 </a:t>
            </a:r>
            <a:r>
              <a:rPr lang="ko-KR" altLang="en-US" sz="1050" b="1" dirty="0" err="1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로직대로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동작하는 여부는 검증하였음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b="1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Peak Threshold 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블록과 연동하지 않은 상태에서 로직 작동 조건만 검증하였음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b="1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실험 당시에는 로직 조건이 작동하는 것으로 판단되어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실사용 샘플에서 레이저 형태가 변화함에 따라 위 로직이 잘 적용하는 지 테스트를 진행하였음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(25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년 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3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월경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15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22DC-DB4D-371D-9132-071A8BB8B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D30FB9-0F20-DE49-AFD5-E2342E809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검증 과정 및 결과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BB2B13-8849-6D82-6603-65FC8B2B0F08}"/>
              </a:ext>
            </a:extLst>
          </p:cNvPr>
          <p:cNvSpPr txBox="1"/>
          <p:nvPr/>
        </p:nvSpPr>
        <p:spPr>
          <a:xfrm>
            <a:off x="578541" y="1062095"/>
            <a:ext cx="10969025" cy="461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검증 결과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] </a:t>
            </a:r>
            <a:r>
              <a:rPr lang="ko-KR" altLang="en-US" sz="1400" dirty="0" err="1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크레셈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장비 연동한 실험 결과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2FBBCE5-5445-C780-EB7A-D693AB5B4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288602"/>
              </p:ext>
            </p:extLst>
          </p:nvPr>
        </p:nvGraphicFramePr>
        <p:xfrm>
          <a:off x="733245" y="1940943"/>
          <a:ext cx="10814322" cy="3475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34">
                  <a:extLst>
                    <a:ext uri="{9D8B030D-6E8A-4147-A177-3AD203B41FA5}">
                      <a16:colId xmlns:a16="http://schemas.microsoft.com/office/drawing/2014/main" val="1528553469"/>
                    </a:ext>
                  </a:extLst>
                </a:gridCol>
                <a:gridCol w="2340847">
                  <a:extLst>
                    <a:ext uri="{9D8B030D-6E8A-4147-A177-3AD203B41FA5}">
                      <a16:colId xmlns:a16="http://schemas.microsoft.com/office/drawing/2014/main" val="178047025"/>
                    </a:ext>
                  </a:extLst>
                </a:gridCol>
                <a:gridCol w="2340847">
                  <a:extLst>
                    <a:ext uri="{9D8B030D-6E8A-4147-A177-3AD203B41FA5}">
                      <a16:colId xmlns:a16="http://schemas.microsoft.com/office/drawing/2014/main" val="1298230558"/>
                    </a:ext>
                  </a:extLst>
                </a:gridCol>
                <a:gridCol w="1560565">
                  <a:extLst>
                    <a:ext uri="{9D8B030D-6E8A-4147-A177-3AD203B41FA5}">
                      <a16:colId xmlns:a16="http://schemas.microsoft.com/office/drawing/2014/main" val="87530377"/>
                    </a:ext>
                  </a:extLst>
                </a:gridCol>
                <a:gridCol w="1560564">
                  <a:extLst>
                    <a:ext uri="{9D8B030D-6E8A-4147-A177-3AD203B41FA5}">
                      <a16:colId xmlns:a16="http://schemas.microsoft.com/office/drawing/2014/main" val="2041145937"/>
                    </a:ext>
                  </a:extLst>
                </a:gridCol>
                <a:gridCol w="1560565">
                  <a:extLst>
                    <a:ext uri="{9D8B030D-6E8A-4147-A177-3AD203B41FA5}">
                      <a16:colId xmlns:a16="http://schemas.microsoft.com/office/drawing/2014/main" val="266740704"/>
                    </a:ext>
                  </a:extLst>
                </a:gridCol>
              </a:tblGrid>
              <a:tr h="598411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17496"/>
                  </a:ext>
                </a:extLst>
              </a:tr>
              <a:tr h="33883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Mode 1</a:t>
                      </a:r>
                    </a:p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(Using one sample)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2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1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2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3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684480"/>
                  </a:ext>
                </a:extLst>
              </a:tr>
              <a:tr h="5903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모션 발진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모션 발진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모션 발진 발생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모션 발진 발생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모션 발진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010122"/>
                  </a:ext>
                </a:extLst>
              </a:tr>
              <a:tr h="33883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Mode 2</a:t>
                      </a:r>
                    </a:p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(Using two sample)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2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초기 </a:t>
                      </a:r>
                      <a:r>
                        <a:rPr lang="en-US" altLang="ko-KR" sz="1200" b="0" dirty="0"/>
                        <a:t>Exposure 2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초기 </a:t>
                      </a:r>
                      <a:r>
                        <a:rPr lang="en-US" altLang="ko-KR" sz="1200" b="0"/>
                        <a:t>Exposure 3</a:t>
                      </a:r>
                      <a:endParaRPr lang="ko-KR" altLang="en-US" sz="12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1813"/>
                  </a:ext>
                </a:extLst>
              </a:tr>
              <a:tr h="673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모션 발진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모션 발진 발생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모션 발진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모션 발진 발생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모션 발진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382224"/>
                  </a:ext>
                </a:extLst>
              </a:tr>
              <a:tr h="9355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Mode 3</a:t>
                      </a:r>
                    </a:p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(Averaging)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평가하지 못함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평가하지 못함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853817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68C5B07F-666D-31FF-65C9-B10A56FC8F41}"/>
              </a:ext>
            </a:extLst>
          </p:cNvPr>
          <p:cNvSpPr txBox="1"/>
          <p:nvPr/>
        </p:nvSpPr>
        <p:spPr>
          <a:xfrm>
            <a:off x="1415226" y="1972917"/>
            <a:ext cx="879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Exposure</a:t>
            </a:r>
            <a:r>
              <a:rPr lang="ko-KR" altLang="en-US" sz="1000" b="1" dirty="0"/>
              <a:t> 개수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AF5EFF-2AB9-1D3D-543C-212C1B15F7BF}"/>
              </a:ext>
            </a:extLst>
          </p:cNvPr>
          <p:cNvSpPr txBox="1"/>
          <p:nvPr/>
        </p:nvSpPr>
        <p:spPr>
          <a:xfrm>
            <a:off x="644433" y="2172972"/>
            <a:ext cx="879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Sequence</a:t>
            </a:r>
          </a:p>
          <a:p>
            <a:pPr algn="ctr"/>
            <a:r>
              <a:rPr lang="en-US" altLang="ko-KR" sz="1000" b="1" dirty="0"/>
              <a:t>mode</a:t>
            </a:r>
            <a:endParaRPr lang="ko-KR" altLang="en-US" sz="1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1F291-C91F-54D4-CBEC-A925FE005A30}"/>
              </a:ext>
            </a:extLst>
          </p:cNvPr>
          <p:cNvSpPr txBox="1"/>
          <p:nvPr/>
        </p:nvSpPr>
        <p:spPr>
          <a:xfrm>
            <a:off x="1148153" y="5717387"/>
            <a:ext cx="98298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실제 장비에 설치된 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AF 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카메라에 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Firmware / FPGA 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로직을 업데이트 후 테스트를 진행했으나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변화되는 </a:t>
            </a:r>
            <a:r>
              <a:rPr lang="ko-KR" altLang="en-US" sz="1050" b="1" dirty="0" err="1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레이져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영상 샘플에서 로직이 정상적으로 동작하지 못했음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 </a:t>
            </a:r>
          </a:p>
          <a:p>
            <a:endParaRPr lang="en-US" altLang="ko-KR" sz="1050" b="1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사내 복귀 후 디버깅 하였을 시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</a:t>
            </a:r>
            <a:r>
              <a:rPr lang="ko-KR" altLang="en-US" sz="1050" b="1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순수 로직 검증만을 위해 </a:t>
            </a:r>
            <a:r>
              <a:rPr lang="en-US" altLang="ko-KR" sz="1050" b="1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Peak Threshold Block</a:t>
            </a:r>
            <a:r>
              <a:rPr lang="ko-KR" altLang="en-US" sz="1050" b="1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을 제거한 것이 실사용 조건에서는 자충수가 되어 모션 발진이 발생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한 것으로 파악됨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48703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0E630-BD6F-1D57-9FA5-6E00CD7F4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511FCD-E16C-B378-FC18-DF897F07E5B0}"/>
              </a:ext>
            </a:extLst>
          </p:cNvPr>
          <p:cNvSpPr txBox="1">
            <a:spLocks/>
          </p:cNvSpPr>
          <p:nvPr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17</a:t>
            </a:fld>
            <a:endParaRPr lang="ko-KR" altLang="en-US" sz="9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43CF843-4C2D-3434-22A8-C9D2917320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0E8ABB-5558-7856-FBF0-2927AF5DF3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결론 및 추가 디버깅 사항</a:t>
            </a:r>
            <a:endParaRPr lang="en-US" altLang="ko-KR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CE109F-1F9B-29A1-3682-F58A908860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21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32A0-922F-443B-5716-CEFE2B58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5A1C084-C11D-6904-0920-4F13937F40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결론 및 추가 개발 사항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5EF7D2-C5DA-6F29-F2F8-671BC21B91E4}"/>
              </a:ext>
            </a:extLst>
          </p:cNvPr>
          <p:cNvSpPr txBox="1"/>
          <p:nvPr/>
        </p:nvSpPr>
        <p:spPr>
          <a:xfrm>
            <a:off x="578541" y="932864"/>
            <a:ext cx="10969025" cy="5319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결론 및 추가 디버깅 사항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]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실험 결론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로직 자체로는 동작한다고 검증되었으나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실사용 조건에 해당 로직이 동작하지 않음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실사용 조건에서 동작할 수 있도록 기존 설계된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AF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로직과 연동 테스트 및 실험이 필요함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lang="en-US" altLang="ko-KR" sz="1400" b="1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추가 개발 필요 사항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[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신호 선택 로직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]</a:t>
            </a:r>
          </a:p>
          <a:p>
            <a:pPr marL="800100" lvl="1" indent="-342900">
              <a:lnSpc>
                <a:spcPct val="150000"/>
              </a:lnSpc>
              <a:buAutoNum type="romanUcPeriod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현재 테스트 결과와 별개로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Multi Exposure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선택을 위한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1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가지 로직을 더 추가하여 테스트 하고자 함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(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다음 장표에 설명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romanUcPeriod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기존 신호 선택하는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3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개의 방식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(Using One Sample, Two Samples, Averaging)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의 경우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조건 설정이 인위적이고 실 사용 조건에서 최적화 파라미터를 찾는 것이 매우 어려울 것으로 보임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사용자가 해당 로직을 이해하여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Multi Exposure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 대한 적정 조건을 찾는 것에 많은 시간이 걸릴 것으로 판단됨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AutoNum type="romanUcPeriod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개선 로직이 필요하며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자세한 개선 로직은 다음 장표에서 소개함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lang="en-US" altLang="ko-KR" sz="1400" b="1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추가 개발 필요 사항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[SDK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/</a:t>
            </a:r>
            <a:r>
              <a:rPr lang="ko-KR" altLang="en-US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40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XML]</a:t>
            </a: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800100" lvl="1" indent="-342900">
              <a:lnSpc>
                <a:spcPct val="150000"/>
              </a:lnSpc>
              <a:buAutoNum type="romanUcPeriod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로직 설계 및 검증이 완료되는 대로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, XML / SDK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단에서는 사용자 편의성이 강화된 기능 구현 및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SW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설계가 필요함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AutoNum type="romanUcPeriod"/>
            </a:pP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이를 사용자가 쉽게 선택할 수 있도록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VEO Focus Manager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에서 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Tool </a:t>
            </a:r>
            <a:r>
              <a:rPr lang="ko-KR" altLang="en-US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형태로 제공해야 할 필요성이 있음</a:t>
            </a:r>
            <a:r>
              <a:rPr lang="en-US" altLang="ko-KR" sz="140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3846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9987-A1F1-B59E-FB23-D995DE0D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432DEE2B-1E91-D290-E41E-CD2281FCA5B2}"/>
              </a:ext>
            </a:extLst>
          </p:cNvPr>
          <p:cNvSpPr/>
          <p:nvPr/>
        </p:nvSpPr>
        <p:spPr>
          <a:xfrm>
            <a:off x="1721227" y="2915650"/>
            <a:ext cx="9069716" cy="3252065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F31E1D5-1A39-BDDE-FB2A-E31EAF1BF0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결론 및 추가 개발 사항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8D4952-EEAC-1066-DA11-E8FF18FB8358}"/>
              </a:ext>
            </a:extLst>
          </p:cNvPr>
          <p:cNvSpPr txBox="1"/>
          <p:nvPr/>
        </p:nvSpPr>
        <p:spPr>
          <a:xfrm>
            <a:off x="578541" y="932864"/>
            <a:ext cx="10969025" cy="461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신규 신호 선택 로직 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Block Diagram] – Selecting the low calculation error data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E3AE51-793F-3B0B-F8B9-EF0858912F50}"/>
              </a:ext>
            </a:extLst>
          </p:cNvPr>
          <p:cNvSpPr/>
          <p:nvPr/>
        </p:nvSpPr>
        <p:spPr>
          <a:xfrm>
            <a:off x="644434" y="1909068"/>
            <a:ext cx="1424960" cy="272947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Camera Sensor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C1A4DA1-38AC-E3DA-97E6-B8B06A9189C7}"/>
              </a:ext>
            </a:extLst>
          </p:cNvPr>
          <p:cNvCxnSpPr>
            <a:cxnSpLocks/>
          </p:cNvCxnSpPr>
          <p:nvPr/>
        </p:nvCxnSpPr>
        <p:spPr>
          <a:xfrm>
            <a:off x="2069394" y="2056045"/>
            <a:ext cx="5866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3F164AE-BB4F-D579-3A4D-4AD4622971A2}"/>
              </a:ext>
            </a:extLst>
          </p:cNvPr>
          <p:cNvSpPr/>
          <p:nvPr/>
        </p:nvSpPr>
        <p:spPr>
          <a:xfrm>
            <a:off x="5184118" y="1934347"/>
            <a:ext cx="2997851" cy="27737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Multi-</a:t>
            </a:r>
            <a:r>
              <a:rPr lang="en-US" altLang="ko-KR" sz="1100" b="1" dirty="0" err="1">
                <a:solidFill>
                  <a:schemeClr val="bg1"/>
                </a:solidFill>
              </a:rPr>
              <a:t>Exposured</a:t>
            </a:r>
            <a:r>
              <a:rPr lang="en-US" altLang="ko-KR" sz="1100" b="1" dirty="0">
                <a:solidFill>
                  <a:schemeClr val="bg1"/>
                </a:solidFill>
              </a:rPr>
              <a:t> Imaging Selection Logic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0061AE6-08F2-DE15-858C-46B79B619254}"/>
              </a:ext>
            </a:extLst>
          </p:cNvPr>
          <p:cNvSpPr/>
          <p:nvPr/>
        </p:nvSpPr>
        <p:spPr>
          <a:xfrm>
            <a:off x="2656028" y="1685626"/>
            <a:ext cx="1810870" cy="63554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Laser Images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from the object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(AF Data Acquisition)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EF4DAB9-7F35-DAF0-3496-8E159F9E8D11}"/>
              </a:ext>
            </a:extLst>
          </p:cNvPr>
          <p:cNvSpPr/>
          <p:nvPr/>
        </p:nvSpPr>
        <p:spPr>
          <a:xfrm>
            <a:off x="8804706" y="1877431"/>
            <a:ext cx="1256168" cy="44374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Selected AF </a:t>
            </a:r>
          </a:p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Calculated Data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D471378-39A2-CA1C-6806-FE033AC98C80}"/>
              </a:ext>
            </a:extLst>
          </p:cNvPr>
          <p:cNvCxnSpPr>
            <a:cxnSpLocks/>
          </p:cNvCxnSpPr>
          <p:nvPr/>
        </p:nvCxnSpPr>
        <p:spPr>
          <a:xfrm>
            <a:off x="10060874" y="2068137"/>
            <a:ext cx="7300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A2C2225-D728-CD8B-F3C5-2FDCEC2C7A2C}"/>
              </a:ext>
            </a:extLst>
          </p:cNvPr>
          <p:cNvSpPr/>
          <p:nvPr/>
        </p:nvSpPr>
        <p:spPr>
          <a:xfrm>
            <a:off x="10790943" y="1846265"/>
            <a:ext cx="1256168" cy="4437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Motion Driver </a:t>
            </a:r>
          </a:p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AF Signal Input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B2042A7-2A50-34FF-9D14-D438FEEB23C7}"/>
              </a:ext>
            </a:extLst>
          </p:cNvPr>
          <p:cNvSpPr/>
          <p:nvPr/>
        </p:nvSpPr>
        <p:spPr>
          <a:xfrm>
            <a:off x="2018419" y="4319250"/>
            <a:ext cx="1256168" cy="4437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Peak Threshold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Filtering Module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AEC08F0-E9B0-3BEB-B252-3F64DF5C2A3A}"/>
              </a:ext>
            </a:extLst>
          </p:cNvPr>
          <p:cNvCxnSpPr>
            <a:cxnSpLocks/>
          </p:cNvCxnSpPr>
          <p:nvPr/>
        </p:nvCxnSpPr>
        <p:spPr>
          <a:xfrm>
            <a:off x="4466898" y="2068137"/>
            <a:ext cx="7300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77EAF04-5365-2CEC-A01A-91B7E7974668}"/>
              </a:ext>
            </a:extLst>
          </p:cNvPr>
          <p:cNvSpPr/>
          <p:nvPr/>
        </p:nvSpPr>
        <p:spPr>
          <a:xfrm>
            <a:off x="65405" y="4471162"/>
            <a:ext cx="1063556" cy="204824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Raw Data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A740D50-D228-B79B-90BD-29BC91091E24}"/>
              </a:ext>
            </a:extLst>
          </p:cNvPr>
          <p:cNvSpPr/>
          <p:nvPr/>
        </p:nvSpPr>
        <p:spPr>
          <a:xfrm>
            <a:off x="1721226" y="2641702"/>
            <a:ext cx="3584195" cy="27737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Multi-</a:t>
            </a:r>
            <a:r>
              <a:rPr lang="en-US" altLang="ko-KR" sz="1100" b="1" dirty="0" err="1">
                <a:solidFill>
                  <a:schemeClr val="bg1"/>
                </a:solidFill>
              </a:rPr>
              <a:t>Exposured</a:t>
            </a:r>
            <a:r>
              <a:rPr lang="en-US" altLang="ko-KR" sz="1100" b="1" dirty="0">
                <a:solidFill>
                  <a:schemeClr val="bg1"/>
                </a:solidFill>
              </a:rPr>
              <a:t> Imaging Selection Logic Module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C437080-B09B-6D7B-D30C-554113D32B2D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1119436" y="4541122"/>
            <a:ext cx="898983" cy="7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50B14E4-0C44-75A1-5C58-FA76B3DF7417}"/>
              </a:ext>
            </a:extLst>
          </p:cNvPr>
          <p:cNvSpPr/>
          <p:nvPr/>
        </p:nvSpPr>
        <p:spPr>
          <a:xfrm>
            <a:off x="4776542" y="3046076"/>
            <a:ext cx="1862695" cy="22480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Using One Sample Logic Part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81C6756-31B8-DDD4-20D5-500721CF5D8E}"/>
              </a:ext>
            </a:extLst>
          </p:cNvPr>
          <p:cNvSpPr/>
          <p:nvPr/>
        </p:nvSpPr>
        <p:spPr>
          <a:xfrm>
            <a:off x="4776541" y="3336682"/>
            <a:ext cx="1862696" cy="22480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Using Two Samples Logic Part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9AB1345-95A0-C74B-A515-38B27DEF0339}"/>
              </a:ext>
            </a:extLst>
          </p:cNvPr>
          <p:cNvSpPr/>
          <p:nvPr/>
        </p:nvSpPr>
        <p:spPr>
          <a:xfrm>
            <a:off x="4776540" y="3633380"/>
            <a:ext cx="1862695" cy="22480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Averaging Logic Part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7845F75-11A6-71A1-D87B-E8A447784AA8}"/>
              </a:ext>
            </a:extLst>
          </p:cNvPr>
          <p:cNvSpPr/>
          <p:nvPr/>
        </p:nvSpPr>
        <p:spPr>
          <a:xfrm>
            <a:off x="4760259" y="3902973"/>
            <a:ext cx="1862695" cy="22480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New Selection Logic Part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F22E949-0F64-DE3B-AF5F-E7A14ACA3FD5}"/>
              </a:ext>
            </a:extLst>
          </p:cNvPr>
          <p:cNvSpPr/>
          <p:nvPr/>
        </p:nvSpPr>
        <p:spPr>
          <a:xfrm>
            <a:off x="4760259" y="4117024"/>
            <a:ext cx="6028792" cy="2050691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EAE48BE-D06C-8882-EA9E-7C14C53D5B63}"/>
              </a:ext>
            </a:extLst>
          </p:cNvPr>
          <p:cNvCxnSpPr>
            <a:cxnSpLocks/>
          </p:cNvCxnSpPr>
          <p:nvPr/>
        </p:nvCxnSpPr>
        <p:spPr>
          <a:xfrm flipV="1">
            <a:off x="9975953" y="2321175"/>
            <a:ext cx="0" cy="266228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A88F063-D4ED-4562-1D61-F2ACDBC25F51}"/>
              </a:ext>
            </a:extLst>
          </p:cNvPr>
          <p:cNvCxnSpPr>
            <a:cxnSpLocks/>
          </p:cNvCxnSpPr>
          <p:nvPr/>
        </p:nvCxnSpPr>
        <p:spPr>
          <a:xfrm>
            <a:off x="6489167" y="2190980"/>
            <a:ext cx="0" cy="703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A26405D-296C-B2EB-DCA2-B698AE47D26D}"/>
              </a:ext>
            </a:extLst>
          </p:cNvPr>
          <p:cNvSpPr/>
          <p:nvPr/>
        </p:nvSpPr>
        <p:spPr>
          <a:xfrm>
            <a:off x="2016493" y="4761545"/>
            <a:ext cx="2438954" cy="122498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9" name="순서도: 판단 78">
            <a:extLst>
              <a:ext uri="{FF2B5EF4-FFF2-40B4-BE49-F238E27FC236}">
                <a16:creationId xmlns:a16="http://schemas.microsoft.com/office/drawing/2014/main" id="{0275944E-EBB2-7777-4D42-172826D766B6}"/>
              </a:ext>
            </a:extLst>
          </p:cNvPr>
          <p:cNvSpPr/>
          <p:nvPr/>
        </p:nvSpPr>
        <p:spPr>
          <a:xfrm>
            <a:off x="2380641" y="5119754"/>
            <a:ext cx="1606135" cy="44137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Threshold</a:t>
            </a:r>
            <a:endParaRPr lang="ko-KR" altLang="en-US" sz="1000" b="1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F0CBCDF4-BD13-075B-CBA8-0265D31DD55F}"/>
              </a:ext>
            </a:extLst>
          </p:cNvPr>
          <p:cNvCxnSpPr>
            <a:cxnSpLocks/>
          </p:cNvCxnSpPr>
          <p:nvPr/>
        </p:nvCxnSpPr>
        <p:spPr>
          <a:xfrm>
            <a:off x="4150636" y="4004583"/>
            <a:ext cx="6096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9B013665-DCBC-CC15-6619-8783AF5F4250}"/>
              </a:ext>
            </a:extLst>
          </p:cNvPr>
          <p:cNvCxnSpPr>
            <a:cxnSpLocks/>
          </p:cNvCxnSpPr>
          <p:nvPr/>
        </p:nvCxnSpPr>
        <p:spPr>
          <a:xfrm>
            <a:off x="4150636" y="4004583"/>
            <a:ext cx="0" cy="1335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A127CC37-3DD9-CD18-CCE8-B2CECED160EE}"/>
              </a:ext>
            </a:extLst>
          </p:cNvPr>
          <p:cNvCxnSpPr>
            <a:cxnSpLocks/>
          </p:cNvCxnSpPr>
          <p:nvPr/>
        </p:nvCxnSpPr>
        <p:spPr>
          <a:xfrm flipV="1">
            <a:off x="4022998" y="5337711"/>
            <a:ext cx="127638" cy="27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56B4E0AE-FC5E-359C-63DB-7BC475E13339}"/>
              </a:ext>
            </a:extLst>
          </p:cNvPr>
          <p:cNvCxnSpPr>
            <a:cxnSpLocks/>
          </p:cNvCxnSpPr>
          <p:nvPr/>
        </p:nvCxnSpPr>
        <p:spPr>
          <a:xfrm>
            <a:off x="3183708" y="5561127"/>
            <a:ext cx="0" cy="811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9789761F-90AD-9714-CC1E-12A2217E4488}"/>
              </a:ext>
            </a:extLst>
          </p:cNvPr>
          <p:cNvSpPr txBox="1"/>
          <p:nvPr/>
        </p:nvSpPr>
        <p:spPr>
          <a:xfrm>
            <a:off x="3153329" y="5679652"/>
            <a:ext cx="833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LOWER?</a:t>
            </a:r>
            <a:endParaRPr lang="ko-KR" altLang="en-US" sz="11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72792B-2691-B786-6447-3AA95A7A6CDA}"/>
              </a:ext>
            </a:extLst>
          </p:cNvPr>
          <p:cNvSpPr txBox="1"/>
          <p:nvPr/>
        </p:nvSpPr>
        <p:spPr>
          <a:xfrm>
            <a:off x="3379673" y="4881116"/>
            <a:ext cx="84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HIGHER?</a:t>
            </a:r>
            <a:endParaRPr lang="ko-KR" altLang="en-US" sz="1100" b="1" dirty="0"/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8ECCEA71-5861-FA97-F724-1E9C8B335420}"/>
              </a:ext>
            </a:extLst>
          </p:cNvPr>
          <p:cNvCxnSpPr>
            <a:cxnSpLocks/>
          </p:cNvCxnSpPr>
          <p:nvPr/>
        </p:nvCxnSpPr>
        <p:spPr>
          <a:xfrm flipH="1">
            <a:off x="4466898" y="6588484"/>
            <a:ext cx="70090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0008206-5816-FD3C-6991-8C689D46C804}"/>
              </a:ext>
            </a:extLst>
          </p:cNvPr>
          <p:cNvCxnSpPr>
            <a:cxnSpLocks/>
          </p:cNvCxnSpPr>
          <p:nvPr/>
        </p:nvCxnSpPr>
        <p:spPr>
          <a:xfrm flipV="1">
            <a:off x="11475918" y="2290009"/>
            <a:ext cx="0" cy="4298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A7DFAB9-14EA-752B-C171-1203F2129420}"/>
              </a:ext>
            </a:extLst>
          </p:cNvPr>
          <p:cNvSpPr/>
          <p:nvPr/>
        </p:nvSpPr>
        <p:spPr>
          <a:xfrm>
            <a:off x="1894584" y="6362699"/>
            <a:ext cx="2779056" cy="399487"/>
          </a:xfrm>
          <a:prstGeom prst="rect">
            <a:avLst/>
          </a:prstGeom>
          <a:solidFill>
            <a:srgbClr val="FF0000"/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Sending the AF Exception Signal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(10V Sin Signal)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297E4F4-5E0E-4719-10D6-77EB23A26BA8}"/>
              </a:ext>
            </a:extLst>
          </p:cNvPr>
          <p:cNvSpPr txBox="1"/>
          <p:nvPr/>
        </p:nvSpPr>
        <p:spPr>
          <a:xfrm>
            <a:off x="7076298" y="6392776"/>
            <a:ext cx="1728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NO AF SIGNAL</a:t>
            </a:r>
            <a:endParaRPr lang="ko-KR" altLang="en-US" sz="1100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C04ED31-272D-6F15-1376-C62C0B4B1A08}"/>
              </a:ext>
            </a:extLst>
          </p:cNvPr>
          <p:cNvSpPr/>
          <p:nvPr/>
        </p:nvSpPr>
        <p:spPr>
          <a:xfrm>
            <a:off x="3739621" y="4144100"/>
            <a:ext cx="790673" cy="44374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Filtered </a:t>
            </a: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AF Data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1F968FC5-A89C-61AA-5597-DB156C974D75}"/>
              </a:ext>
            </a:extLst>
          </p:cNvPr>
          <p:cNvSpPr/>
          <p:nvPr/>
        </p:nvSpPr>
        <p:spPr>
          <a:xfrm>
            <a:off x="2661455" y="1481914"/>
            <a:ext cx="1063556" cy="204824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Raw Data</a:t>
            </a: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443FB9C-053B-9B90-920D-295324F88087}"/>
              </a:ext>
            </a:extLst>
          </p:cNvPr>
          <p:cNvGrpSpPr/>
          <p:nvPr/>
        </p:nvGrpSpPr>
        <p:grpSpPr>
          <a:xfrm>
            <a:off x="4861195" y="4314960"/>
            <a:ext cx="2098508" cy="596553"/>
            <a:chOff x="4870720" y="4318780"/>
            <a:chExt cx="2098508" cy="348188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1984B2B5-C679-84B9-A50A-7914BE97C50E}"/>
                </a:ext>
              </a:extLst>
            </p:cNvPr>
            <p:cNvSpPr/>
            <p:nvPr/>
          </p:nvSpPr>
          <p:spPr>
            <a:xfrm>
              <a:off x="4871195" y="4318780"/>
              <a:ext cx="1423109" cy="136581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Exposure Condition 1</a:t>
              </a: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20384256-5340-573F-CEC6-8A3A36995A9D}"/>
                </a:ext>
              </a:extLst>
            </p:cNvPr>
            <p:cNvSpPr/>
            <p:nvPr/>
          </p:nvSpPr>
          <p:spPr>
            <a:xfrm>
              <a:off x="4870720" y="4456855"/>
              <a:ext cx="2098508" cy="210113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900" dirty="0">
                  <a:solidFill>
                    <a:schemeClr val="tx1"/>
                  </a:solidFill>
                </a:rPr>
                <a:t>Calculation is invalid Since it is blocked by the Peak Threshold Filter</a:t>
              </a:r>
            </a:p>
          </p:txBody>
        </p:sp>
      </p:grp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349834C-1904-6A2E-9F13-1ED159A12A42}"/>
              </a:ext>
            </a:extLst>
          </p:cNvPr>
          <p:cNvSpPr/>
          <p:nvPr/>
        </p:nvSpPr>
        <p:spPr>
          <a:xfrm>
            <a:off x="4853775" y="4983461"/>
            <a:ext cx="1423109" cy="234005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Exposure Condition 2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58EC6FA1-446A-9525-0965-3848FC9E7DEC}"/>
              </a:ext>
            </a:extLst>
          </p:cNvPr>
          <p:cNvSpPr/>
          <p:nvPr/>
        </p:nvSpPr>
        <p:spPr>
          <a:xfrm>
            <a:off x="4861670" y="5422611"/>
            <a:ext cx="1423109" cy="234005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Exposure Condition 3</a:t>
            </a: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7309BDDF-2633-618F-5210-86972CE8177A}"/>
              </a:ext>
            </a:extLst>
          </p:cNvPr>
          <p:cNvCxnSpPr>
            <a:cxnSpLocks/>
          </p:cNvCxnSpPr>
          <p:nvPr/>
        </p:nvCxnSpPr>
        <p:spPr>
          <a:xfrm>
            <a:off x="6276884" y="5069469"/>
            <a:ext cx="7994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B7FB8882-5063-A281-EC3B-691B6BD24C88}"/>
              </a:ext>
            </a:extLst>
          </p:cNvPr>
          <p:cNvCxnSpPr>
            <a:cxnSpLocks/>
          </p:cNvCxnSpPr>
          <p:nvPr/>
        </p:nvCxnSpPr>
        <p:spPr>
          <a:xfrm>
            <a:off x="6276884" y="5534721"/>
            <a:ext cx="7994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5F27533-6893-B12E-D69D-022D494A23B5}"/>
              </a:ext>
            </a:extLst>
          </p:cNvPr>
          <p:cNvSpPr/>
          <p:nvPr/>
        </p:nvSpPr>
        <p:spPr>
          <a:xfrm>
            <a:off x="7076297" y="4700147"/>
            <a:ext cx="3606975" cy="122498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30209D1-F9C8-4862-7AC3-07CF9C07B1D3}"/>
              </a:ext>
            </a:extLst>
          </p:cNvPr>
          <p:cNvSpPr/>
          <p:nvPr/>
        </p:nvSpPr>
        <p:spPr>
          <a:xfrm>
            <a:off x="7074406" y="4436475"/>
            <a:ext cx="1423108" cy="266759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1D Haar-like Filter</a:t>
            </a: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9678A246-D656-443E-B345-B86394E21D35}"/>
              </a:ext>
            </a:extLst>
          </p:cNvPr>
          <p:cNvGrpSpPr/>
          <p:nvPr/>
        </p:nvGrpSpPr>
        <p:grpSpPr>
          <a:xfrm>
            <a:off x="7169814" y="4777916"/>
            <a:ext cx="1874748" cy="459066"/>
            <a:chOff x="7169814" y="4777916"/>
            <a:chExt cx="1874748" cy="459066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1CD3D0B6-8D6F-DE61-2D8D-4B6DAF2975F9}"/>
                </a:ext>
              </a:extLst>
            </p:cNvPr>
            <p:cNvSpPr/>
            <p:nvPr/>
          </p:nvSpPr>
          <p:spPr>
            <a:xfrm>
              <a:off x="7169814" y="4777916"/>
              <a:ext cx="1423109" cy="234005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Exposure Condition 2</a:t>
              </a: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D2B86ECD-752E-6438-2705-5E7BE319F971}"/>
                </a:ext>
              </a:extLst>
            </p:cNvPr>
            <p:cNvSpPr/>
            <p:nvPr/>
          </p:nvSpPr>
          <p:spPr>
            <a:xfrm>
              <a:off x="7171869" y="5011921"/>
              <a:ext cx="1872693" cy="225061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900" b="1" dirty="0">
                  <a:solidFill>
                    <a:srgbClr val="00B050"/>
                  </a:solidFill>
                </a:rPr>
                <a:t>Calculation Error : 1%</a:t>
              </a: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CB0C0239-9028-0369-1FC2-3874E4CD862C}"/>
              </a:ext>
            </a:extLst>
          </p:cNvPr>
          <p:cNvGrpSpPr/>
          <p:nvPr/>
        </p:nvGrpSpPr>
        <p:grpSpPr>
          <a:xfrm>
            <a:off x="7169814" y="5357827"/>
            <a:ext cx="1874748" cy="459066"/>
            <a:chOff x="7169814" y="4777916"/>
            <a:chExt cx="1874748" cy="459066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0C0B54E9-7A0B-A458-5968-70838D12AE5B}"/>
                </a:ext>
              </a:extLst>
            </p:cNvPr>
            <p:cNvSpPr/>
            <p:nvPr/>
          </p:nvSpPr>
          <p:spPr>
            <a:xfrm>
              <a:off x="7169814" y="4777916"/>
              <a:ext cx="1423109" cy="234005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Exposure Condition 3</a:t>
              </a: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8E2E8E9-CC78-0DB1-F962-C36BB1F65F6F}"/>
                </a:ext>
              </a:extLst>
            </p:cNvPr>
            <p:cNvSpPr/>
            <p:nvPr/>
          </p:nvSpPr>
          <p:spPr>
            <a:xfrm>
              <a:off x="7171869" y="5011921"/>
              <a:ext cx="1872693" cy="225061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900" b="1" dirty="0">
                  <a:solidFill>
                    <a:srgbClr val="FF0000"/>
                  </a:solidFill>
                </a:rPr>
                <a:t>Calculation Error : 3%</a:t>
              </a:r>
            </a:p>
          </p:txBody>
        </p:sp>
      </p:grp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7DA0FAD9-49DB-230D-0A10-67DB2E22F7A4}"/>
              </a:ext>
            </a:extLst>
          </p:cNvPr>
          <p:cNvCxnSpPr>
            <a:cxnSpLocks/>
          </p:cNvCxnSpPr>
          <p:nvPr/>
        </p:nvCxnSpPr>
        <p:spPr>
          <a:xfrm>
            <a:off x="9044562" y="5142726"/>
            <a:ext cx="3334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0F113C77-F293-A570-0208-04EDE540D457}"/>
              </a:ext>
            </a:extLst>
          </p:cNvPr>
          <p:cNvCxnSpPr>
            <a:cxnSpLocks/>
          </p:cNvCxnSpPr>
          <p:nvPr/>
        </p:nvCxnSpPr>
        <p:spPr>
          <a:xfrm>
            <a:off x="9044562" y="5679652"/>
            <a:ext cx="3334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순서도: 판단 134">
            <a:extLst>
              <a:ext uri="{FF2B5EF4-FFF2-40B4-BE49-F238E27FC236}">
                <a16:creationId xmlns:a16="http://schemas.microsoft.com/office/drawing/2014/main" id="{866C84FD-4AB7-DA27-77AE-6767176D0248}"/>
              </a:ext>
            </a:extLst>
          </p:cNvPr>
          <p:cNvSpPr/>
          <p:nvPr/>
        </p:nvSpPr>
        <p:spPr>
          <a:xfrm>
            <a:off x="9410579" y="5011921"/>
            <a:ext cx="1210531" cy="80496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Error Criteria</a:t>
            </a:r>
            <a:endParaRPr lang="ko-KR" altLang="en-US" sz="1000" b="1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A11D75E-93A8-79B0-9844-1D9134150B72}"/>
              </a:ext>
            </a:extLst>
          </p:cNvPr>
          <p:cNvSpPr/>
          <p:nvPr/>
        </p:nvSpPr>
        <p:spPr>
          <a:xfrm>
            <a:off x="9359463" y="4987777"/>
            <a:ext cx="1323810" cy="93735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EDEF5AF-CE70-67E5-2889-DF9C64C90368}"/>
              </a:ext>
            </a:extLst>
          </p:cNvPr>
          <p:cNvSpPr/>
          <p:nvPr/>
        </p:nvSpPr>
        <p:spPr>
          <a:xfrm>
            <a:off x="9257956" y="3224175"/>
            <a:ext cx="1435993" cy="44374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Exposure Condition 2 Data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4763F21-DC35-AF66-0E90-67A109548945}"/>
              </a:ext>
            </a:extLst>
          </p:cNvPr>
          <p:cNvSpPr txBox="1"/>
          <p:nvPr/>
        </p:nvSpPr>
        <p:spPr>
          <a:xfrm>
            <a:off x="9541255" y="4243396"/>
            <a:ext cx="981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Lower Error?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83113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3D548-6E07-B0A4-BC94-4F7DC36C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E9BED00A-80AD-D491-7F0A-0BB5E23225B0}"/>
              </a:ext>
            </a:extLst>
          </p:cNvPr>
          <p:cNvSpPr/>
          <p:nvPr/>
        </p:nvSpPr>
        <p:spPr>
          <a:xfrm>
            <a:off x="1721227" y="2915650"/>
            <a:ext cx="9069716" cy="3252065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35BF1E2-BB78-FA99-8C9C-74CB915661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결론 및 추가 개발 사항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FE11C1-EDC9-10E3-A7C9-7323EC277BF0}"/>
              </a:ext>
            </a:extLst>
          </p:cNvPr>
          <p:cNvSpPr txBox="1"/>
          <p:nvPr/>
        </p:nvSpPr>
        <p:spPr>
          <a:xfrm>
            <a:off x="578541" y="932864"/>
            <a:ext cx="10969025" cy="461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신규 신호 선택 로직 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Block Diagram] – Selecting the low exposure time data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AB925A0-15D5-F689-C305-8827376DE376}"/>
              </a:ext>
            </a:extLst>
          </p:cNvPr>
          <p:cNvSpPr/>
          <p:nvPr/>
        </p:nvSpPr>
        <p:spPr>
          <a:xfrm>
            <a:off x="644434" y="1909068"/>
            <a:ext cx="1424960" cy="272947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Camera Sensor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A242CE0-C16F-DAD3-B15C-6A0E0ED154BF}"/>
              </a:ext>
            </a:extLst>
          </p:cNvPr>
          <p:cNvCxnSpPr>
            <a:cxnSpLocks/>
          </p:cNvCxnSpPr>
          <p:nvPr/>
        </p:nvCxnSpPr>
        <p:spPr>
          <a:xfrm>
            <a:off x="2069394" y="2056045"/>
            <a:ext cx="5866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16C69C6-9973-4910-D696-0F5542ED190B}"/>
              </a:ext>
            </a:extLst>
          </p:cNvPr>
          <p:cNvSpPr/>
          <p:nvPr/>
        </p:nvSpPr>
        <p:spPr>
          <a:xfrm>
            <a:off x="5184118" y="1934347"/>
            <a:ext cx="2997851" cy="27737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Multi-</a:t>
            </a:r>
            <a:r>
              <a:rPr lang="en-US" altLang="ko-KR" sz="1100" b="1" dirty="0" err="1">
                <a:solidFill>
                  <a:schemeClr val="bg1"/>
                </a:solidFill>
              </a:rPr>
              <a:t>Exposured</a:t>
            </a:r>
            <a:r>
              <a:rPr lang="en-US" altLang="ko-KR" sz="1100" b="1" dirty="0">
                <a:solidFill>
                  <a:schemeClr val="bg1"/>
                </a:solidFill>
              </a:rPr>
              <a:t> Imaging Selection Logic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7D9364B-1B4B-356F-7125-2C25C5E85ED2}"/>
              </a:ext>
            </a:extLst>
          </p:cNvPr>
          <p:cNvSpPr/>
          <p:nvPr/>
        </p:nvSpPr>
        <p:spPr>
          <a:xfrm>
            <a:off x="2656028" y="1685626"/>
            <a:ext cx="1810870" cy="63554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Laser Images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from the object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(AF Data Acquisition)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965BB87-41DE-FBAE-3261-0DB22F2B39AB}"/>
              </a:ext>
            </a:extLst>
          </p:cNvPr>
          <p:cNvSpPr/>
          <p:nvPr/>
        </p:nvSpPr>
        <p:spPr>
          <a:xfrm>
            <a:off x="8804706" y="1877431"/>
            <a:ext cx="1256168" cy="44374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Selected AF </a:t>
            </a:r>
          </a:p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Calculated Data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F277B83-9C52-0DCB-834D-CD013876167C}"/>
              </a:ext>
            </a:extLst>
          </p:cNvPr>
          <p:cNvCxnSpPr>
            <a:cxnSpLocks/>
          </p:cNvCxnSpPr>
          <p:nvPr/>
        </p:nvCxnSpPr>
        <p:spPr>
          <a:xfrm>
            <a:off x="10060874" y="2068137"/>
            <a:ext cx="7300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1B51407-AC2E-0922-597D-A20CCDA3DFC1}"/>
              </a:ext>
            </a:extLst>
          </p:cNvPr>
          <p:cNvSpPr/>
          <p:nvPr/>
        </p:nvSpPr>
        <p:spPr>
          <a:xfrm>
            <a:off x="10790943" y="1846265"/>
            <a:ext cx="1256168" cy="4437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Motion Driver </a:t>
            </a:r>
          </a:p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AF Signal Input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76599CF-3360-42AE-25B1-49EEDA368DB0}"/>
              </a:ext>
            </a:extLst>
          </p:cNvPr>
          <p:cNvSpPr/>
          <p:nvPr/>
        </p:nvSpPr>
        <p:spPr>
          <a:xfrm>
            <a:off x="2018419" y="4319250"/>
            <a:ext cx="1256168" cy="4437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Peak Threshold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Filtering Module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8E573E00-E763-A04C-0091-CD86960D967D}"/>
              </a:ext>
            </a:extLst>
          </p:cNvPr>
          <p:cNvCxnSpPr>
            <a:cxnSpLocks/>
          </p:cNvCxnSpPr>
          <p:nvPr/>
        </p:nvCxnSpPr>
        <p:spPr>
          <a:xfrm>
            <a:off x="4466898" y="2068137"/>
            <a:ext cx="7300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572187D-C049-BF76-809B-2F6F448FB6E3}"/>
              </a:ext>
            </a:extLst>
          </p:cNvPr>
          <p:cNvSpPr/>
          <p:nvPr/>
        </p:nvSpPr>
        <p:spPr>
          <a:xfrm>
            <a:off x="65405" y="4471162"/>
            <a:ext cx="1063556" cy="204824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Raw Data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2701A7C-3149-0D89-7801-E7173F31FB9D}"/>
              </a:ext>
            </a:extLst>
          </p:cNvPr>
          <p:cNvSpPr/>
          <p:nvPr/>
        </p:nvSpPr>
        <p:spPr>
          <a:xfrm>
            <a:off x="1721226" y="2641702"/>
            <a:ext cx="3584195" cy="27737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Multi-</a:t>
            </a:r>
            <a:r>
              <a:rPr lang="en-US" altLang="ko-KR" sz="1100" b="1" dirty="0" err="1">
                <a:solidFill>
                  <a:schemeClr val="bg1"/>
                </a:solidFill>
              </a:rPr>
              <a:t>Exposured</a:t>
            </a:r>
            <a:r>
              <a:rPr lang="en-US" altLang="ko-KR" sz="1100" b="1" dirty="0">
                <a:solidFill>
                  <a:schemeClr val="bg1"/>
                </a:solidFill>
              </a:rPr>
              <a:t> Imaging Selection Logic Module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3B4B109-85B2-7815-E7F8-29BA286C88E6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1119436" y="4541122"/>
            <a:ext cx="898983" cy="7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46DAAD9-199C-5CFC-875B-75A01C1F9B1F}"/>
              </a:ext>
            </a:extLst>
          </p:cNvPr>
          <p:cNvSpPr/>
          <p:nvPr/>
        </p:nvSpPr>
        <p:spPr>
          <a:xfrm>
            <a:off x="4776542" y="3046076"/>
            <a:ext cx="1862695" cy="22480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Using One Sample Logic Part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ABF374A-14EE-A35D-5684-462A530BF9F2}"/>
              </a:ext>
            </a:extLst>
          </p:cNvPr>
          <p:cNvSpPr/>
          <p:nvPr/>
        </p:nvSpPr>
        <p:spPr>
          <a:xfrm>
            <a:off x="4776541" y="3336682"/>
            <a:ext cx="1862696" cy="22480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Using Two Samples Logic Part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F24D19C-A7DE-5754-F11E-0977D82A0DEF}"/>
              </a:ext>
            </a:extLst>
          </p:cNvPr>
          <p:cNvSpPr/>
          <p:nvPr/>
        </p:nvSpPr>
        <p:spPr>
          <a:xfrm>
            <a:off x="4776540" y="3633380"/>
            <a:ext cx="1862695" cy="22480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Averaging Logic Part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A24F387-E131-9CC2-73EE-0F645A016BCF}"/>
              </a:ext>
            </a:extLst>
          </p:cNvPr>
          <p:cNvSpPr/>
          <p:nvPr/>
        </p:nvSpPr>
        <p:spPr>
          <a:xfrm>
            <a:off x="4760259" y="3902973"/>
            <a:ext cx="1862695" cy="22480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New Selection Logic Part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6019F32-869E-94C3-936F-37A1D3FD8869}"/>
              </a:ext>
            </a:extLst>
          </p:cNvPr>
          <p:cNvSpPr/>
          <p:nvPr/>
        </p:nvSpPr>
        <p:spPr>
          <a:xfrm>
            <a:off x="4760259" y="4117024"/>
            <a:ext cx="6028792" cy="2050691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CA035F2-F91B-CDB4-DB53-719177F9B4E3}"/>
              </a:ext>
            </a:extLst>
          </p:cNvPr>
          <p:cNvCxnSpPr>
            <a:cxnSpLocks/>
          </p:cNvCxnSpPr>
          <p:nvPr/>
        </p:nvCxnSpPr>
        <p:spPr>
          <a:xfrm flipV="1">
            <a:off x="9975953" y="2321175"/>
            <a:ext cx="0" cy="266228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83C13D4C-9622-2DF3-8D7A-D4A1DF746BEB}"/>
              </a:ext>
            </a:extLst>
          </p:cNvPr>
          <p:cNvCxnSpPr>
            <a:cxnSpLocks/>
          </p:cNvCxnSpPr>
          <p:nvPr/>
        </p:nvCxnSpPr>
        <p:spPr>
          <a:xfrm>
            <a:off x="6489167" y="2190980"/>
            <a:ext cx="0" cy="703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98561-BCE3-FF61-36F4-9186A69897DC}"/>
              </a:ext>
            </a:extLst>
          </p:cNvPr>
          <p:cNvSpPr/>
          <p:nvPr/>
        </p:nvSpPr>
        <p:spPr>
          <a:xfrm>
            <a:off x="2016493" y="4761545"/>
            <a:ext cx="2438954" cy="122498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9" name="순서도: 판단 78">
            <a:extLst>
              <a:ext uri="{FF2B5EF4-FFF2-40B4-BE49-F238E27FC236}">
                <a16:creationId xmlns:a16="http://schemas.microsoft.com/office/drawing/2014/main" id="{8B7D325F-2261-49BE-81A7-BE02EF27FFF0}"/>
              </a:ext>
            </a:extLst>
          </p:cNvPr>
          <p:cNvSpPr/>
          <p:nvPr/>
        </p:nvSpPr>
        <p:spPr>
          <a:xfrm>
            <a:off x="2380641" y="5119754"/>
            <a:ext cx="1606135" cy="44137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Threshold</a:t>
            </a:r>
            <a:endParaRPr lang="ko-KR" altLang="en-US" sz="1000" b="1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F7FC748-A5B5-DF81-F3FF-AF149D819769}"/>
              </a:ext>
            </a:extLst>
          </p:cNvPr>
          <p:cNvCxnSpPr>
            <a:cxnSpLocks/>
          </p:cNvCxnSpPr>
          <p:nvPr/>
        </p:nvCxnSpPr>
        <p:spPr>
          <a:xfrm>
            <a:off x="4150636" y="4004583"/>
            <a:ext cx="6096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20D37B01-5D8B-D4C8-BE89-2110FCCC7E65}"/>
              </a:ext>
            </a:extLst>
          </p:cNvPr>
          <p:cNvCxnSpPr>
            <a:cxnSpLocks/>
          </p:cNvCxnSpPr>
          <p:nvPr/>
        </p:nvCxnSpPr>
        <p:spPr>
          <a:xfrm>
            <a:off x="4150636" y="4004583"/>
            <a:ext cx="0" cy="1335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F5E52867-82B3-909D-630A-687891103C49}"/>
              </a:ext>
            </a:extLst>
          </p:cNvPr>
          <p:cNvCxnSpPr>
            <a:cxnSpLocks/>
          </p:cNvCxnSpPr>
          <p:nvPr/>
        </p:nvCxnSpPr>
        <p:spPr>
          <a:xfrm flipV="1">
            <a:off x="4022998" y="5337711"/>
            <a:ext cx="127638" cy="27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A4596E4C-9873-B213-63FF-4FFF77D68499}"/>
              </a:ext>
            </a:extLst>
          </p:cNvPr>
          <p:cNvCxnSpPr>
            <a:cxnSpLocks/>
          </p:cNvCxnSpPr>
          <p:nvPr/>
        </p:nvCxnSpPr>
        <p:spPr>
          <a:xfrm>
            <a:off x="3183708" y="5561127"/>
            <a:ext cx="0" cy="811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076D6F26-0BCD-44F8-4931-74F17D2D5D1A}"/>
              </a:ext>
            </a:extLst>
          </p:cNvPr>
          <p:cNvSpPr txBox="1"/>
          <p:nvPr/>
        </p:nvSpPr>
        <p:spPr>
          <a:xfrm>
            <a:off x="3153329" y="5679652"/>
            <a:ext cx="833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LOWER?</a:t>
            </a:r>
            <a:endParaRPr lang="ko-KR" altLang="en-US" sz="11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586F497-C440-B71A-77E1-E4B96B9536FC}"/>
              </a:ext>
            </a:extLst>
          </p:cNvPr>
          <p:cNvSpPr txBox="1"/>
          <p:nvPr/>
        </p:nvSpPr>
        <p:spPr>
          <a:xfrm>
            <a:off x="3379673" y="4881116"/>
            <a:ext cx="84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HIGHER?</a:t>
            </a:r>
            <a:endParaRPr lang="ko-KR" altLang="en-US" sz="1100" b="1" dirty="0"/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C250AFDA-C242-69D1-06B0-1CD35EBAEF72}"/>
              </a:ext>
            </a:extLst>
          </p:cNvPr>
          <p:cNvCxnSpPr>
            <a:cxnSpLocks/>
          </p:cNvCxnSpPr>
          <p:nvPr/>
        </p:nvCxnSpPr>
        <p:spPr>
          <a:xfrm flipH="1">
            <a:off x="4466898" y="6588484"/>
            <a:ext cx="70090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0F9B3C51-F33F-3B83-AC55-674F4E175865}"/>
              </a:ext>
            </a:extLst>
          </p:cNvPr>
          <p:cNvCxnSpPr>
            <a:cxnSpLocks/>
          </p:cNvCxnSpPr>
          <p:nvPr/>
        </p:nvCxnSpPr>
        <p:spPr>
          <a:xfrm flipV="1">
            <a:off x="11475918" y="2290009"/>
            <a:ext cx="0" cy="4298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6D3E7772-F18F-9780-C9B3-E4E6DC598630}"/>
              </a:ext>
            </a:extLst>
          </p:cNvPr>
          <p:cNvSpPr/>
          <p:nvPr/>
        </p:nvSpPr>
        <p:spPr>
          <a:xfrm>
            <a:off x="1894584" y="6362699"/>
            <a:ext cx="2779056" cy="399487"/>
          </a:xfrm>
          <a:prstGeom prst="rect">
            <a:avLst/>
          </a:prstGeom>
          <a:solidFill>
            <a:srgbClr val="FF0000"/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Sending the AF Exception Signal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(10V Sin Signal)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261870D-A172-ED12-E96D-2635238A7D1A}"/>
              </a:ext>
            </a:extLst>
          </p:cNvPr>
          <p:cNvSpPr txBox="1"/>
          <p:nvPr/>
        </p:nvSpPr>
        <p:spPr>
          <a:xfrm>
            <a:off x="7076298" y="6392776"/>
            <a:ext cx="1728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NO AF SIGNAL</a:t>
            </a:r>
            <a:endParaRPr lang="ko-KR" altLang="en-US" sz="1100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D7B3AB7-D26C-67AD-F9A5-3217CAE53276}"/>
              </a:ext>
            </a:extLst>
          </p:cNvPr>
          <p:cNvSpPr/>
          <p:nvPr/>
        </p:nvSpPr>
        <p:spPr>
          <a:xfrm>
            <a:off x="3739621" y="4144100"/>
            <a:ext cx="790673" cy="44374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Filtered </a:t>
            </a: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AF Data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E25C556-1C6B-2175-892C-FB1E0DD66EDF}"/>
              </a:ext>
            </a:extLst>
          </p:cNvPr>
          <p:cNvSpPr/>
          <p:nvPr/>
        </p:nvSpPr>
        <p:spPr>
          <a:xfrm>
            <a:off x="2661455" y="1481914"/>
            <a:ext cx="1063556" cy="204824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Raw Data</a:t>
            </a: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2D869B6-F8EC-408D-4CEC-4AEECCCF5BB5}"/>
              </a:ext>
            </a:extLst>
          </p:cNvPr>
          <p:cNvGrpSpPr/>
          <p:nvPr/>
        </p:nvGrpSpPr>
        <p:grpSpPr>
          <a:xfrm>
            <a:off x="4861195" y="4314960"/>
            <a:ext cx="2098508" cy="596553"/>
            <a:chOff x="4870720" y="4318780"/>
            <a:chExt cx="2098508" cy="348188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1D85CC10-79E4-3066-FE56-8B301C69E2BF}"/>
                </a:ext>
              </a:extLst>
            </p:cNvPr>
            <p:cNvSpPr/>
            <p:nvPr/>
          </p:nvSpPr>
          <p:spPr>
            <a:xfrm>
              <a:off x="4871195" y="4318780"/>
              <a:ext cx="1423109" cy="136581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Exposure Condition 1</a:t>
              </a: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CF519F5C-9CC2-076B-69E4-668B252CDA05}"/>
                </a:ext>
              </a:extLst>
            </p:cNvPr>
            <p:cNvSpPr/>
            <p:nvPr/>
          </p:nvSpPr>
          <p:spPr>
            <a:xfrm>
              <a:off x="4870720" y="4456855"/>
              <a:ext cx="2098508" cy="210113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900" dirty="0">
                  <a:solidFill>
                    <a:schemeClr val="tx1"/>
                  </a:solidFill>
                </a:rPr>
                <a:t>Calculation is invalid Since it is blocked by the Peak Threshold Filter</a:t>
              </a:r>
            </a:p>
          </p:txBody>
        </p:sp>
      </p:grp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277756E-AB6C-373D-B55D-EA6D9947D8C9}"/>
              </a:ext>
            </a:extLst>
          </p:cNvPr>
          <p:cNvSpPr/>
          <p:nvPr/>
        </p:nvSpPr>
        <p:spPr>
          <a:xfrm>
            <a:off x="4853775" y="4983461"/>
            <a:ext cx="1423109" cy="234005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Exposure Condition 2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9D6D375-FDBB-C587-0D9B-91B5CE6F668D}"/>
              </a:ext>
            </a:extLst>
          </p:cNvPr>
          <p:cNvSpPr/>
          <p:nvPr/>
        </p:nvSpPr>
        <p:spPr>
          <a:xfrm>
            <a:off x="4861670" y="5422611"/>
            <a:ext cx="1423109" cy="234005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Exposure Condition 3</a:t>
            </a: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879AE8B7-3984-B9A1-D338-50F849A9C05E}"/>
              </a:ext>
            </a:extLst>
          </p:cNvPr>
          <p:cNvCxnSpPr>
            <a:cxnSpLocks/>
          </p:cNvCxnSpPr>
          <p:nvPr/>
        </p:nvCxnSpPr>
        <p:spPr>
          <a:xfrm>
            <a:off x="6276884" y="5069469"/>
            <a:ext cx="7994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82246391-744A-31B8-EB45-61225758B225}"/>
              </a:ext>
            </a:extLst>
          </p:cNvPr>
          <p:cNvCxnSpPr>
            <a:cxnSpLocks/>
          </p:cNvCxnSpPr>
          <p:nvPr/>
        </p:nvCxnSpPr>
        <p:spPr>
          <a:xfrm>
            <a:off x="6276884" y="5534721"/>
            <a:ext cx="7994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14DB118-0D61-936F-72B7-4C61875A76E1}"/>
              </a:ext>
            </a:extLst>
          </p:cNvPr>
          <p:cNvSpPr/>
          <p:nvPr/>
        </p:nvSpPr>
        <p:spPr>
          <a:xfrm>
            <a:off x="7076297" y="4700147"/>
            <a:ext cx="3606975" cy="122498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D41529E0-E503-EA73-CA62-974958BE4139}"/>
              </a:ext>
            </a:extLst>
          </p:cNvPr>
          <p:cNvSpPr/>
          <p:nvPr/>
        </p:nvSpPr>
        <p:spPr>
          <a:xfrm>
            <a:off x="7074406" y="4436475"/>
            <a:ext cx="1423108" cy="266759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1D Haar-like Filter</a:t>
            </a: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10DABFE3-AD58-975F-355B-E648B8ABEBA2}"/>
              </a:ext>
            </a:extLst>
          </p:cNvPr>
          <p:cNvGrpSpPr/>
          <p:nvPr/>
        </p:nvGrpSpPr>
        <p:grpSpPr>
          <a:xfrm>
            <a:off x="7169814" y="4777916"/>
            <a:ext cx="1874748" cy="459066"/>
            <a:chOff x="7169814" y="4777916"/>
            <a:chExt cx="1874748" cy="459066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222AA58A-55F2-030A-E7A9-E890FAE865EF}"/>
                </a:ext>
              </a:extLst>
            </p:cNvPr>
            <p:cNvSpPr/>
            <p:nvPr/>
          </p:nvSpPr>
          <p:spPr>
            <a:xfrm>
              <a:off x="7169814" y="4777916"/>
              <a:ext cx="1423109" cy="234005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Exposure Condition 2</a:t>
              </a: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FC21FCB5-9A1C-DBC0-8660-6BD869571260}"/>
                </a:ext>
              </a:extLst>
            </p:cNvPr>
            <p:cNvSpPr/>
            <p:nvPr/>
          </p:nvSpPr>
          <p:spPr>
            <a:xfrm>
              <a:off x="7171869" y="5011921"/>
              <a:ext cx="1872693" cy="225061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900" b="1" dirty="0">
                  <a:solidFill>
                    <a:srgbClr val="00B050"/>
                  </a:solidFill>
                </a:rPr>
                <a:t>Exposure Time: 50us</a:t>
              </a: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FC88541E-F053-1D8D-21EE-5F786D076F4A}"/>
              </a:ext>
            </a:extLst>
          </p:cNvPr>
          <p:cNvGrpSpPr/>
          <p:nvPr/>
        </p:nvGrpSpPr>
        <p:grpSpPr>
          <a:xfrm>
            <a:off x="7169814" y="5357827"/>
            <a:ext cx="1874748" cy="459066"/>
            <a:chOff x="7169814" y="4777916"/>
            <a:chExt cx="1874748" cy="459066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585382C6-B63A-B0BC-7CCE-5EE276DDB33C}"/>
                </a:ext>
              </a:extLst>
            </p:cNvPr>
            <p:cNvSpPr/>
            <p:nvPr/>
          </p:nvSpPr>
          <p:spPr>
            <a:xfrm>
              <a:off x="7169814" y="4777916"/>
              <a:ext cx="1423109" cy="234005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Exposure Condition 3</a:t>
              </a: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1141E669-EE49-1298-95C0-9F3200A8CBFD}"/>
                </a:ext>
              </a:extLst>
            </p:cNvPr>
            <p:cNvSpPr/>
            <p:nvPr/>
          </p:nvSpPr>
          <p:spPr>
            <a:xfrm>
              <a:off x="7171869" y="5011921"/>
              <a:ext cx="1872693" cy="225061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900" b="1" dirty="0">
                  <a:solidFill>
                    <a:srgbClr val="FF0000"/>
                  </a:solidFill>
                </a:rPr>
                <a:t>Exposure Time: 100us</a:t>
              </a:r>
            </a:p>
          </p:txBody>
        </p:sp>
      </p:grp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E800E335-1FFA-84A6-CD91-CBF4743A3B85}"/>
              </a:ext>
            </a:extLst>
          </p:cNvPr>
          <p:cNvCxnSpPr>
            <a:cxnSpLocks/>
          </p:cNvCxnSpPr>
          <p:nvPr/>
        </p:nvCxnSpPr>
        <p:spPr>
          <a:xfrm>
            <a:off x="9044562" y="5142726"/>
            <a:ext cx="3334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2FF9CE9C-12E8-5111-9114-410F86251E20}"/>
              </a:ext>
            </a:extLst>
          </p:cNvPr>
          <p:cNvCxnSpPr>
            <a:cxnSpLocks/>
          </p:cNvCxnSpPr>
          <p:nvPr/>
        </p:nvCxnSpPr>
        <p:spPr>
          <a:xfrm>
            <a:off x="9044562" y="5679652"/>
            <a:ext cx="3334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순서도: 판단 134">
            <a:extLst>
              <a:ext uri="{FF2B5EF4-FFF2-40B4-BE49-F238E27FC236}">
                <a16:creationId xmlns:a16="http://schemas.microsoft.com/office/drawing/2014/main" id="{63A61CE2-46EE-04E1-4A14-0419D92CC2A9}"/>
              </a:ext>
            </a:extLst>
          </p:cNvPr>
          <p:cNvSpPr/>
          <p:nvPr/>
        </p:nvSpPr>
        <p:spPr>
          <a:xfrm>
            <a:off x="9410579" y="5011921"/>
            <a:ext cx="1210531" cy="80496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Error Criteria</a:t>
            </a:r>
            <a:endParaRPr lang="ko-KR" altLang="en-US" sz="1000" b="1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D2CFEA05-0C33-E8CC-34A2-6CE00F0D1195}"/>
              </a:ext>
            </a:extLst>
          </p:cNvPr>
          <p:cNvSpPr/>
          <p:nvPr/>
        </p:nvSpPr>
        <p:spPr>
          <a:xfrm>
            <a:off x="9359463" y="4987777"/>
            <a:ext cx="1323810" cy="93735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9039BF8C-A821-D961-E7CE-76A61CE7A04A}"/>
              </a:ext>
            </a:extLst>
          </p:cNvPr>
          <p:cNvSpPr/>
          <p:nvPr/>
        </p:nvSpPr>
        <p:spPr>
          <a:xfrm>
            <a:off x="9257956" y="3224175"/>
            <a:ext cx="1435993" cy="44374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Exposure Condition 2 Data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653816A-ADCB-4F6F-0F9A-833E8E19A5BB}"/>
              </a:ext>
            </a:extLst>
          </p:cNvPr>
          <p:cNvSpPr txBox="1"/>
          <p:nvPr/>
        </p:nvSpPr>
        <p:spPr>
          <a:xfrm>
            <a:off x="9541255" y="4243396"/>
            <a:ext cx="9815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Lower Exposure?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030775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AF12-E303-9AE5-6850-EE4B1434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659D586C-6F2F-69EF-CD00-5DFCF57DE3AB}"/>
              </a:ext>
            </a:extLst>
          </p:cNvPr>
          <p:cNvSpPr/>
          <p:nvPr/>
        </p:nvSpPr>
        <p:spPr>
          <a:xfrm>
            <a:off x="4757738" y="3998307"/>
            <a:ext cx="6324710" cy="1988225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7ABC3A1-1253-1FC5-9D1D-C6FEF8A161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결론 및 추가 개발 사항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4D36A6-E0A2-3478-DCB6-F6FA96EDD2C4}"/>
              </a:ext>
            </a:extLst>
          </p:cNvPr>
          <p:cNvSpPr txBox="1"/>
          <p:nvPr/>
        </p:nvSpPr>
        <p:spPr>
          <a:xfrm>
            <a:off x="578541" y="932864"/>
            <a:ext cx="10969025" cy="461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신규 신호 선택 로직 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Block Diagram] – AF Calculation with HDR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18175A-5746-7199-B8D5-CE48A0E9EEE2}"/>
              </a:ext>
            </a:extLst>
          </p:cNvPr>
          <p:cNvSpPr/>
          <p:nvPr/>
        </p:nvSpPr>
        <p:spPr>
          <a:xfrm>
            <a:off x="644434" y="1909068"/>
            <a:ext cx="1424960" cy="272947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Camera Sensor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F94FBD0-D172-67E1-789D-9E8D714585FC}"/>
              </a:ext>
            </a:extLst>
          </p:cNvPr>
          <p:cNvCxnSpPr>
            <a:cxnSpLocks/>
          </p:cNvCxnSpPr>
          <p:nvPr/>
        </p:nvCxnSpPr>
        <p:spPr>
          <a:xfrm>
            <a:off x="2069394" y="2056045"/>
            <a:ext cx="5866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05D6603-7F81-12EC-5CD4-66570C8910B4}"/>
              </a:ext>
            </a:extLst>
          </p:cNvPr>
          <p:cNvSpPr/>
          <p:nvPr/>
        </p:nvSpPr>
        <p:spPr>
          <a:xfrm>
            <a:off x="5184118" y="1934347"/>
            <a:ext cx="2997851" cy="27737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Multi-</a:t>
            </a:r>
            <a:r>
              <a:rPr lang="en-US" altLang="ko-KR" sz="1100" b="1" dirty="0" err="1">
                <a:solidFill>
                  <a:schemeClr val="bg1"/>
                </a:solidFill>
              </a:rPr>
              <a:t>Exposured</a:t>
            </a:r>
            <a:r>
              <a:rPr lang="en-US" altLang="ko-KR" sz="1100" b="1" dirty="0">
                <a:solidFill>
                  <a:schemeClr val="bg1"/>
                </a:solidFill>
              </a:rPr>
              <a:t> Imaging Selection Logic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AA42FF9-7C34-D31C-134A-B2168DC3E55C}"/>
              </a:ext>
            </a:extLst>
          </p:cNvPr>
          <p:cNvSpPr/>
          <p:nvPr/>
        </p:nvSpPr>
        <p:spPr>
          <a:xfrm>
            <a:off x="2656028" y="1685626"/>
            <a:ext cx="1810870" cy="63554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Laser Images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from the object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(AF Data Acquisition)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7ABCEF8-6A7B-35BA-1861-442519F7EADE}"/>
              </a:ext>
            </a:extLst>
          </p:cNvPr>
          <p:cNvSpPr/>
          <p:nvPr/>
        </p:nvSpPr>
        <p:spPr>
          <a:xfrm>
            <a:off x="8804706" y="1877431"/>
            <a:ext cx="1256168" cy="44374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Selected AF </a:t>
            </a:r>
          </a:p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Calculated Data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0C98AD2-D9D2-3475-8E0A-207066331873}"/>
              </a:ext>
            </a:extLst>
          </p:cNvPr>
          <p:cNvCxnSpPr>
            <a:cxnSpLocks/>
          </p:cNvCxnSpPr>
          <p:nvPr/>
        </p:nvCxnSpPr>
        <p:spPr>
          <a:xfrm>
            <a:off x="10060874" y="2068137"/>
            <a:ext cx="7300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A15AED3-5921-913F-08A5-6FB075F379F9}"/>
              </a:ext>
            </a:extLst>
          </p:cNvPr>
          <p:cNvSpPr/>
          <p:nvPr/>
        </p:nvSpPr>
        <p:spPr>
          <a:xfrm>
            <a:off x="10790943" y="1846265"/>
            <a:ext cx="1256168" cy="4437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Motion Driver </a:t>
            </a:r>
          </a:p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AF Signal Input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E41A307-D356-088F-F872-200922DAC1D8}"/>
              </a:ext>
            </a:extLst>
          </p:cNvPr>
          <p:cNvSpPr/>
          <p:nvPr/>
        </p:nvSpPr>
        <p:spPr>
          <a:xfrm>
            <a:off x="2016493" y="4327758"/>
            <a:ext cx="1256168" cy="4437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Peak Threshold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Filtering Moule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3662AC6-6325-D7B3-5DE6-B8CF8EED34CE}"/>
              </a:ext>
            </a:extLst>
          </p:cNvPr>
          <p:cNvCxnSpPr>
            <a:cxnSpLocks/>
          </p:cNvCxnSpPr>
          <p:nvPr/>
        </p:nvCxnSpPr>
        <p:spPr>
          <a:xfrm>
            <a:off x="4466898" y="2068137"/>
            <a:ext cx="7300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04568C3-BEE0-E433-304C-5A965F3E1FE9}"/>
              </a:ext>
            </a:extLst>
          </p:cNvPr>
          <p:cNvSpPr/>
          <p:nvPr/>
        </p:nvSpPr>
        <p:spPr>
          <a:xfrm>
            <a:off x="58725" y="2969859"/>
            <a:ext cx="1063556" cy="204824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Raw Data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B0440A4-1C74-1D57-EF03-B601F58196BD}"/>
              </a:ext>
            </a:extLst>
          </p:cNvPr>
          <p:cNvSpPr/>
          <p:nvPr/>
        </p:nvSpPr>
        <p:spPr>
          <a:xfrm>
            <a:off x="1721226" y="2641702"/>
            <a:ext cx="3584195" cy="27737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Multi-</a:t>
            </a:r>
            <a:r>
              <a:rPr lang="en-US" altLang="ko-KR" sz="1100" b="1" dirty="0" err="1">
                <a:solidFill>
                  <a:schemeClr val="bg1"/>
                </a:solidFill>
              </a:rPr>
              <a:t>Exposured</a:t>
            </a:r>
            <a:r>
              <a:rPr lang="en-US" altLang="ko-KR" sz="1100" b="1" dirty="0">
                <a:solidFill>
                  <a:schemeClr val="bg1"/>
                </a:solidFill>
              </a:rPr>
              <a:t> Imaging Selection Logic Module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1FA38A8-4CBA-089B-9D83-F8F8794067F1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122281" y="3072271"/>
            <a:ext cx="896027" cy="9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BEA0782-D8FC-7689-0DD3-2525D362C0EB}"/>
              </a:ext>
            </a:extLst>
          </p:cNvPr>
          <p:cNvSpPr/>
          <p:nvPr/>
        </p:nvSpPr>
        <p:spPr>
          <a:xfrm>
            <a:off x="4745411" y="3896785"/>
            <a:ext cx="1640540" cy="22480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New Selection Logic Part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FD33E83-9B38-D854-9DE2-D97E3DD12B4F}"/>
              </a:ext>
            </a:extLst>
          </p:cNvPr>
          <p:cNvCxnSpPr>
            <a:cxnSpLocks/>
            <a:stCxn id="135" idx="3"/>
          </p:cNvCxnSpPr>
          <p:nvPr/>
        </p:nvCxnSpPr>
        <p:spPr>
          <a:xfrm flipV="1">
            <a:off x="9682797" y="2321175"/>
            <a:ext cx="9842" cy="2870693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78F37DF-4709-FDF2-DA95-61172759A006}"/>
              </a:ext>
            </a:extLst>
          </p:cNvPr>
          <p:cNvCxnSpPr>
            <a:cxnSpLocks/>
          </p:cNvCxnSpPr>
          <p:nvPr/>
        </p:nvCxnSpPr>
        <p:spPr>
          <a:xfrm>
            <a:off x="6489167" y="2190980"/>
            <a:ext cx="0" cy="703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BD32399-97F3-9114-E725-61C683C6EA50}"/>
              </a:ext>
            </a:extLst>
          </p:cNvPr>
          <p:cNvSpPr/>
          <p:nvPr/>
        </p:nvSpPr>
        <p:spPr>
          <a:xfrm>
            <a:off x="2016493" y="4761545"/>
            <a:ext cx="2438954" cy="122498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9" name="순서도: 판단 78">
            <a:extLst>
              <a:ext uri="{FF2B5EF4-FFF2-40B4-BE49-F238E27FC236}">
                <a16:creationId xmlns:a16="http://schemas.microsoft.com/office/drawing/2014/main" id="{3128568C-446D-E5C7-8BAC-08273B7B5108}"/>
              </a:ext>
            </a:extLst>
          </p:cNvPr>
          <p:cNvSpPr/>
          <p:nvPr/>
        </p:nvSpPr>
        <p:spPr>
          <a:xfrm>
            <a:off x="2380641" y="5119754"/>
            <a:ext cx="1606135" cy="44137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Threshold</a:t>
            </a:r>
            <a:endParaRPr lang="ko-KR" altLang="en-US" sz="1000" b="1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64E168EF-A3D7-B058-242F-5A358C3CE3D7}"/>
              </a:ext>
            </a:extLst>
          </p:cNvPr>
          <p:cNvCxnSpPr>
            <a:cxnSpLocks/>
          </p:cNvCxnSpPr>
          <p:nvPr/>
        </p:nvCxnSpPr>
        <p:spPr>
          <a:xfrm>
            <a:off x="4150636" y="4004583"/>
            <a:ext cx="6096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43F0B7CB-F1CF-CCD7-7651-BFEE80CFD75A}"/>
              </a:ext>
            </a:extLst>
          </p:cNvPr>
          <p:cNvCxnSpPr>
            <a:cxnSpLocks/>
          </p:cNvCxnSpPr>
          <p:nvPr/>
        </p:nvCxnSpPr>
        <p:spPr>
          <a:xfrm>
            <a:off x="4150636" y="4004583"/>
            <a:ext cx="0" cy="1335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2ACE779E-5B75-1DFA-7EE6-FB923C957966}"/>
              </a:ext>
            </a:extLst>
          </p:cNvPr>
          <p:cNvCxnSpPr>
            <a:cxnSpLocks/>
          </p:cNvCxnSpPr>
          <p:nvPr/>
        </p:nvCxnSpPr>
        <p:spPr>
          <a:xfrm flipV="1">
            <a:off x="4022998" y="5337711"/>
            <a:ext cx="127638" cy="27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BA4AEBFE-6C0F-922A-09EC-48ADB2411A2F}"/>
              </a:ext>
            </a:extLst>
          </p:cNvPr>
          <p:cNvCxnSpPr>
            <a:cxnSpLocks/>
          </p:cNvCxnSpPr>
          <p:nvPr/>
        </p:nvCxnSpPr>
        <p:spPr>
          <a:xfrm>
            <a:off x="3183708" y="5561127"/>
            <a:ext cx="0" cy="811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01EF8831-65EE-6390-1F14-22EE1F738962}"/>
              </a:ext>
            </a:extLst>
          </p:cNvPr>
          <p:cNvSpPr txBox="1"/>
          <p:nvPr/>
        </p:nvSpPr>
        <p:spPr>
          <a:xfrm>
            <a:off x="3153329" y="5679652"/>
            <a:ext cx="833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LOWER?</a:t>
            </a:r>
            <a:endParaRPr lang="ko-KR" altLang="en-US" sz="11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071F21A-FE60-D8F7-FA61-7EB208CE7EF6}"/>
              </a:ext>
            </a:extLst>
          </p:cNvPr>
          <p:cNvSpPr txBox="1"/>
          <p:nvPr/>
        </p:nvSpPr>
        <p:spPr>
          <a:xfrm>
            <a:off x="3379673" y="4881116"/>
            <a:ext cx="84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HIGHER?</a:t>
            </a:r>
            <a:endParaRPr lang="ko-KR" altLang="en-US" sz="1100" b="1" dirty="0"/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15627C7-18A7-EA3D-9914-553517B8A112}"/>
              </a:ext>
            </a:extLst>
          </p:cNvPr>
          <p:cNvCxnSpPr>
            <a:cxnSpLocks/>
          </p:cNvCxnSpPr>
          <p:nvPr/>
        </p:nvCxnSpPr>
        <p:spPr>
          <a:xfrm flipH="1">
            <a:off x="4466898" y="6588484"/>
            <a:ext cx="70090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72AFCCDE-48AB-DF68-F8E0-753E0BA34C0D}"/>
              </a:ext>
            </a:extLst>
          </p:cNvPr>
          <p:cNvCxnSpPr>
            <a:cxnSpLocks/>
          </p:cNvCxnSpPr>
          <p:nvPr/>
        </p:nvCxnSpPr>
        <p:spPr>
          <a:xfrm flipV="1">
            <a:off x="11475918" y="2290009"/>
            <a:ext cx="0" cy="4298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68F83E0-7941-A612-86D5-B1D23A315F6B}"/>
              </a:ext>
            </a:extLst>
          </p:cNvPr>
          <p:cNvSpPr/>
          <p:nvPr/>
        </p:nvSpPr>
        <p:spPr>
          <a:xfrm>
            <a:off x="1894584" y="6362699"/>
            <a:ext cx="2779056" cy="399487"/>
          </a:xfrm>
          <a:prstGeom prst="rect">
            <a:avLst/>
          </a:prstGeom>
          <a:solidFill>
            <a:srgbClr val="FF0000"/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Sending the AF Exception Signal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(10V Sin Signal)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EC455FF-E724-176E-B5A9-675C76968B01}"/>
              </a:ext>
            </a:extLst>
          </p:cNvPr>
          <p:cNvSpPr txBox="1"/>
          <p:nvPr/>
        </p:nvSpPr>
        <p:spPr>
          <a:xfrm>
            <a:off x="7076298" y="6392776"/>
            <a:ext cx="1728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NO AF SIGNAL</a:t>
            </a:r>
            <a:endParaRPr lang="ko-KR" altLang="en-US" sz="1100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CDAE015-AECF-26B5-F141-CE263F42632C}"/>
              </a:ext>
            </a:extLst>
          </p:cNvPr>
          <p:cNvSpPr/>
          <p:nvPr/>
        </p:nvSpPr>
        <p:spPr>
          <a:xfrm>
            <a:off x="3739621" y="4144100"/>
            <a:ext cx="790673" cy="44374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Filtered </a:t>
            </a: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AF Data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E686384-70DC-7F1F-8F84-1A95E8A26BE3}"/>
              </a:ext>
            </a:extLst>
          </p:cNvPr>
          <p:cNvSpPr/>
          <p:nvPr/>
        </p:nvSpPr>
        <p:spPr>
          <a:xfrm>
            <a:off x="2661455" y="1481914"/>
            <a:ext cx="1063556" cy="204824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AF Raw Data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77D3119-E720-FE61-A091-1DD1B0158897}"/>
              </a:ext>
            </a:extLst>
          </p:cNvPr>
          <p:cNvSpPr/>
          <p:nvPr/>
        </p:nvSpPr>
        <p:spPr>
          <a:xfrm>
            <a:off x="4877668" y="5072564"/>
            <a:ext cx="1423109" cy="234005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Filtered AF Data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41F773C1-7777-14AC-70C6-72BFD413CEB8}"/>
              </a:ext>
            </a:extLst>
          </p:cNvPr>
          <p:cNvCxnSpPr>
            <a:cxnSpLocks/>
          </p:cNvCxnSpPr>
          <p:nvPr/>
        </p:nvCxnSpPr>
        <p:spPr>
          <a:xfrm>
            <a:off x="6310619" y="5158828"/>
            <a:ext cx="833777" cy="7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CCF74CC-7270-BD7C-F7BF-232574F546FE}"/>
              </a:ext>
            </a:extLst>
          </p:cNvPr>
          <p:cNvSpPr/>
          <p:nvPr/>
        </p:nvSpPr>
        <p:spPr>
          <a:xfrm>
            <a:off x="7825565" y="4437325"/>
            <a:ext cx="1423108" cy="266759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1D Haar-like Filter</a:t>
            </a:r>
          </a:p>
        </p:txBody>
      </p:sp>
      <p:sp>
        <p:nvSpPr>
          <p:cNvPr id="135" name="순서도: 판단 134">
            <a:extLst>
              <a:ext uri="{FF2B5EF4-FFF2-40B4-BE49-F238E27FC236}">
                <a16:creationId xmlns:a16="http://schemas.microsoft.com/office/drawing/2014/main" id="{BDF218D4-1964-AC60-24AC-8D2D0D97FA48}"/>
              </a:ext>
            </a:extLst>
          </p:cNvPr>
          <p:cNvSpPr/>
          <p:nvPr/>
        </p:nvSpPr>
        <p:spPr>
          <a:xfrm>
            <a:off x="7126658" y="4704084"/>
            <a:ext cx="2556139" cy="97556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Find Peak Position </a:t>
            </a:r>
          </a:p>
          <a:p>
            <a:pPr algn="ctr"/>
            <a:r>
              <a:rPr lang="en-US" altLang="ko-KR" sz="900" b="1" dirty="0">
                <a:latin typeface="뷰웍스 L" panose="02020503020101020101" pitchFamily="18" charset="-127"/>
                <a:ea typeface="뷰웍스 L" panose="02020503020101020101" pitchFamily="18" charset="-127"/>
                <a:cs typeface="뷰웍스 L" panose="02020503020101020101" pitchFamily="18" charset="-127"/>
              </a:rPr>
              <a:t>Based on 1D Haar-like Filter Algorithm</a:t>
            </a:r>
            <a:endParaRPr lang="ko-KR" altLang="en-US" sz="900" b="1" dirty="0">
              <a:latin typeface="뷰웍스 L" panose="02020503020101020101" pitchFamily="18" charset="-127"/>
              <a:ea typeface="뷰웍스 L" panose="02020503020101020101" pitchFamily="18" charset="-127"/>
              <a:cs typeface="뷰웍스 L" panose="02020503020101020101" pitchFamily="18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1E1C959-89EE-F5CE-C3B7-A5E1BE3FF080}"/>
              </a:ext>
            </a:extLst>
          </p:cNvPr>
          <p:cNvSpPr txBox="1"/>
          <p:nvPr/>
        </p:nvSpPr>
        <p:spPr>
          <a:xfrm>
            <a:off x="9682797" y="4528840"/>
            <a:ext cx="9815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Peak has found</a:t>
            </a:r>
            <a:endParaRPr lang="ko-KR" altLang="en-US" sz="1100" b="1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3983A57-9888-A622-9248-ACB3D1A5A46B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44577" y="3849735"/>
            <a:ext cx="0" cy="478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2F9A30-B9CD-3517-5E65-219048A257D0}"/>
              </a:ext>
            </a:extLst>
          </p:cNvPr>
          <p:cNvSpPr/>
          <p:nvPr/>
        </p:nvSpPr>
        <p:spPr>
          <a:xfrm>
            <a:off x="2015464" y="3169192"/>
            <a:ext cx="2439984" cy="66169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Processing Multi-exposure AF image data and output a single image with HDR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678D55-F28D-C1A3-6799-D08082C441AF}"/>
              </a:ext>
            </a:extLst>
          </p:cNvPr>
          <p:cNvSpPr/>
          <p:nvPr/>
        </p:nvSpPr>
        <p:spPr>
          <a:xfrm>
            <a:off x="2015463" y="2944463"/>
            <a:ext cx="1732868" cy="224727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HDR Processing Module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5EFEA8A-25E8-DAD8-BB7B-AEA2F98D2031}"/>
              </a:ext>
            </a:extLst>
          </p:cNvPr>
          <p:cNvCxnSpPr>
            <a:cxnSpLocks/>
          </p:cNvCxnSpPr>
          <p:nvPr/>
        </p:nvCxnSpPr>
        <p:spPr>
          <a:xfrm flipH="1">
            <a:off x="5741623" y="4269387"/>
            <a:ext cx="1148" cy="955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30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0CBC-276F-6921-44EE-B364D003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22368A4-BF73-569D-B964-09C5FA4524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결론 및 추가 개발 사항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66DA66-32F1-F2FA-D5FD-CC6B01B25922}"/>
              </a:ext>
            </a:extLst>
          </p:cNvPr>
          <p:cNvSpPr txBox="1"/>
          <p:nvPr/>
        </p:nvSpPr>
        <p:spPr>
          <a:xfrm>
            <a:off x="578541" y="932864"/>
            <a:ext cx="10969025" cy="461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신규 신호 선택 로직 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– 1D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Haar-like</a:t>
            </a:r>
            <a:r>
              <a:rPr lang="ko-KR" altLang="en-US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Filter]</a:t>
            </a:r>
          </a:p>
        </p:txBody>
      </p:sp>
      <p:pic>
        <p:nvPicPr>
          <p:cNvPr id="4" name="그림 3" descr="스크린샷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88E71C-A865-DC8E-3802-F304CD4C5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26" y="1514401"/>
            <a:ext cx="7835124" cy="37346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5C189F-DF00-1974-56F7-2B9F3D6A108E}"/>
              </a:ext>
            </a:extLst>
          </p:cNvPr>
          <p:cNvSpPr txBox="1"/>
          <p:nvPr/>
        </p:nvSpPr>
        <p:spPr>
          <a:xfrm>
            <a:off x="929078" y="5475013"/>
            <a:ext cx="982980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[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위 알고리즘 핵심 내용 및 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Multi Exposure Selection </a:t>
            </a:r>
            <a:r>
              <a:rPr lang="ko-KR" altLang="en-US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과의 관계</a:t>
            </a:r>
            <a:r>
              <a:rPr lang="en-US" altLang="ko-KR" sz="1050" b="1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]</a:t>
            </a:r>
          </a:p>
          <a:p>
            <a:endParaRPr lang="en-US" altLang="ko-KR" sz="1050" dirty="0">
              <a:latin typeface="뷰웍스 M" panose="02020503020101020101" pitchFamily="18" charset="-127"/>
              <a:ea typeface="뷰웍스 M" panose="02020503020101020101" pitchFamily="18" charset="-127"/>
              <a:cs typeface="뷰웍스 M" panose="020205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이 알고리즘은 </a:t>
            </a:r>
            <a:r>
              <a:rPr lang="en-US" altLang="ko-KR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Raw Laser </a:t>
            </a:r>
            <a:r>
              <a:rPr lang="ko-KR" altLang="en-US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데이터에서 얼마나 레이저 중심점을 잘 찾는 역할을 담당함</a:t>
            </a:r>
            <a:r>
              <a:rPr lang="en-US" altLang="ko-KR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</a:t>
            </a:r>
            <a:r>
              <a:rPr lang="en-US" altLang="ko-KR" sz="1050" b="1" dirty="0">
                <a:solidFill>
                  <a:srgbClr val="FF0000"/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Multi Exposure Data</a:t>
            </a:r>
            <a:r>
              <a:rPr lang="ko-KR" altLang="en-US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</a:t>
            </a:r>
            <a:r>
              <a:rPr lang="en-US" altLang="ko-KR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Selection</a:t>
            </a:r>
            <a:r>
              <a:rPr lang="ko-KR" altLang="en-US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에서는 </a:t>
            </a:r>
            <a:r>
              <a:rPr lang="en-US" altLang="ko-KR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Multi Exposure </a:t>
            </a:r>
            <a:r>
              <a:rPr lang="ko-KR" altLang="en-US" sz="1050" dirty="0"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조건으로 얻은 데이터 샘플 중에서 </a:t>
            </a:r>
            <a:r>
              <a:rPr lang="ko-KR" altLang="en-US" sz="1050" b="1" dirty="0">
                <a:highlight>
                  <a:srgbClr val="00FF00"/>
                </a:highlight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어느 조건이 더 중심점을 잘 </a:t>
            </a:r>
            <a:r>
              <a:rPr lang="ko-KR" altLang="en-US" sz="1050" b="1" dirty="0" err="1">
                <a:highlight>
                  <a:srgbClr val="00FF00"/>
                </a:highlight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찾았느냐를</a:t>
            </a:r>
            <a:r>
              <a:rPr lang="ko-KR" altLang="en-US" sz="1050" b="1" dirty="0">
                <a:highlight>
                  <a:srgbClr val="00FF00"/>
                </a:highlight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 조건식으로 달아 최종 모션 드라이버로 보낼 데이터를 선택하는 로직을 구성 및 테스트 할 것임</a:t>
            </a:r>
            <a:r>
              <a:rPr lang="en-US" altLang="ko-KR" sz="1050" b="1" dirty="0">
                <a:highlight>
                  <a:srgbClr val="00FF00"/>
                </a:highlight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0593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66A4B9-2537-4775-AF53-03187F46F33F}"/>
              </a:ext>
            </a:extLst>
          </p:cNvPr>
          <p:cNvSpPr txBox="1">
            <a:spLocks/>
          </p:cNvSpPr>
          <p:nvPr/>
        </p:nvSpPr>
        <p:spPr>
          <a:xfrm>
            <a:off x="585181" y="3113841"/>
            <a:ext cx="10515600" cy="62194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r>
              <a:rPr lang="ko-KR" altLang="en-US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85807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12178</TotalTime>
  <Words>2491</Words>
  <Application>Microsoft Office PowerPoint</Application>
  <PresentationFormat>와이드스크린</PresentationFormat>
  <Paragraphs>537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맑은 고딕</vt:lpstr>
      <vt:lpstr>뷰웍스 B</vt:lpstr>
      <vt:lpstr>뷰웍스 L</vt:lpstr>
      <vt:lpstr>뷰웍스 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김선주 (Seonju Kim)</dc:creator>
  <cp:lastModifiedBy>정찬우 (Chris Jeong)</cp:lastModifiedBy>
  <cp:revision>63</cp:revision>
  <dcterms:created xsi:type="dcterms:W3CDTF">2022-12-22T04:18:11Z</dcterms:created>
  <dcterms:modified xsi:type="dcterms:W3CDTF">2026-07-12T14:46:19Z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949e95-bfdd-47e3-8791-5bfa694cfbe0_Enabled">
    <vt:lpwstr>True</vt:lpwstr>
  </property>
  <property fmtid="{D5CDD505-2E9C-101B-9397-08002B2CF9AE}" pid="3" name="MSIP_Label_f7949e95-bfdd-47e3-8791-5bfa694cfbe0_SiteId">
    <vt:lpwstr>09b926a1-c30f-4465-a6d8-6fb133ff32d4</vt:lpwstr>
  </property>
  <property fmtid="{D5CDD505-2E9C-101B-9397-08002B2CF9AE}" pid="4" name="MSIP_Label_f7949e95-bfdd-47e3-8791-5bfa694cfbe0_Owner">
    <vt:lpwstr>2017393@vieworks.com</vt:lpwstr>
  </property>
  <property fmtid="{D5CDD505-2E9C-101B-9397-08002B2CF9AE}" pid="5" name="MSIP_Label_f7949e95-bfdd-47e3-8791-5bfa694cfbe0_SetDate">
    <vt:lpwstr>2023-01-02T05:20:32.5212761Z</vt:lpwstr>
  </property>
  <property fmtid="{D5CDD505-2E9C-101B-9397-08002B2CF9AE}" pid="6" name="MSIP_Label_f7949e95-bfdd-47e3-8791-5bfa694cfbe0_Name">
    <vt:lpwstr>Public</vt:lpwstr>
  </property>
  <property fmtid="{D5CDD505-2E9C-101B-9397-08002B2CF9AE}" pid="7" name="MSIP_Label_f7949e95-bfdd-47e3-8791-5bfa694cfbe0_Application">
    <vt:lpwstr>Microsoft Azure Information Protection</vt:lpwstr>
  </property>
  <property fmtid="{D5CDD505-2E9C-101B-9397-08002B2CF9AE}" pid="8" name="MSIP_Label_f7949e95-bfdd-47e3-8791-5bfa694cfbe0_ActionId">
    <vt:lpwstr>1727fbb5-6199-440a-8299-e23c915f8179</vt:lpwstr>
  </property>
  <property fmtid="{D5CDD505-2E9C-101B-9397-08002B2CF9AE}" pid="9" name="MSIP_Label_f7949e95-bfdd-47e3-8791-5bfa694cfbe0_Extended_MSFT_Method">
    <vt:lpwstr>Automatic</vt:lpwstr>
  </property>
  <property fmtid="{D5CDD505-2E9C-101B-9397-08002B2CF9AE}" pid="10" name="MSIP_Label_7343311a-a301-4b9f-bcd5-6665ecc1ef0a_Enabled">
    <vt:lpwstr>True</vt:lpwstr>
  </property>
  <property fmtid="{D5CDD505-2E9C-101B-9397-08002B2CF9AE}" pid="11" name="MSIP_Label_7343311a-a301-4b9f-bcd5-6665ecc1ef0a_SiteId">
    <vt:lpwstr>09b926a1-c30f-4465-a6d8-6fb133ff32d4</vt:lpwstr>
  </property>
  <property fmtid="{D5CDD505-2E9C-101B-9397-08002B2CF9AE}" pid="12" name="MSIP_Label_7343311a-a301-4b9f-bcd5-6665ecc1ef0a_SetDate">
    <vt:lpwstr>2022-12-22T04:18:11Z</vt:lpwstr>
  </property>
  <property fmtid="{D5CDD505-2E9C-101B-9397-08002B2CF9AE}" pid="13" name="MSIP_Label_7343311a-a301-4b9f-bcd5-6665ecc1ef0a_Name">
    <vt:lpwstr>Open Label</vt:lpwstr>
  </property>
  <property fmtid="{D5CDD505-2E9C-101B-9397-08002B2CF9AE}" pid="14" name="MSIP_Label_7343311a-a301-4b9f-bcd5-6665ecc1ef0a_ActionId">
    <vt:lpwstr>a4997688-5cc0-45ae-9944-05ef2e6fe406</vt:lpwstr>
  </property>
  <property fmtid="{D5CDD505-2E9C-101B-9397-08002B2CF9AE}" pid="15" name="MSIP_Label_7343311a-a301-4b9f-bcd5-6665ecc1ef0a_Extended_MSFT_Method">
    <vt:lpwstr>Automatic</vt:lpwstr>
  </property>
  <property fmtid="{D5CDD505-2E9C-101B-9397-08002B2CF9AE}" pid="16" name="Sensitivity">
    <vt:lpwstr>Public Open Label</vt:lpwstr>
  </property>
</Properties>
</file>